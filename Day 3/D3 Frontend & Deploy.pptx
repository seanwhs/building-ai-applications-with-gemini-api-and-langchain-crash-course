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12192000"/>
  <p:embeddedFontLst>
    <p:embeddedFont>
      <p:font typeface="MiSans" panose="020B0604020202020204" charset="-122"/>
      <p:regular r:id="rId2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63" d="100"/>
          <a:sy n="63" d="100"/>
        </p:scale>
        <p:origin x="7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4837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IST_MASTER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5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5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jpeg"/><Relationship Id="rId4" Type="http://schemas.openxmlformats.org/officeDocument/2006/relationships/image" Target="../media/image16.jpe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5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jpeg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5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image" Target="../media/image5.png"/><Relationship Id="rId7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2.jpeg"/><Relationship Id="rId4" Type="http://schemas.openxmlformats.org/officeDocument/2006/relationships/image" Target="../media/image31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CF3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4:33-d2nf8k98bjvh7rlj0a7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0003"/>
            <a:ext cx="12263122" cy="689800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985330" y="1568117"/>
            <a:ext cx="6264818" cy="1759942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5400" dirty="0">
                <a:solidFill>
                  <a:srgbClr val="6D7A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Day 3 Frontend &amp; Deploy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235190" y="4391660"/>
            <a:ext cx="4064000" cy="17462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9158605" y="638111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9158605" y="638111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9358630" y="638111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9358630" y="638111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9558655" y="638111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9558655" y="638111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9758680" y="638111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9758680" y="638111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2426315" y="948853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2426315" y="948853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2626340" y="948853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2626340" y="948853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2826365" y="948853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2826365" y="948853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3026390" y="948853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7"/>
          <p:cNvSpPr/>
          <p:nvPr/>
        </p:nvSpPr>
        <p:spPr>
          <a:xfrm>
            <a:off x="3026390" y="948853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2318365" y="3578388"/>
            <a:ext cx="4064000" cy="4616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6D7A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Sean Wong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2318365" y="4213388"/>
            <a:ext cx="3035935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6D7A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2025/08/05</a:t>
            </a:r>
            <a:endParaRPr lang="en-US" sz="1600" dirty="0"/>
          </a:p>
        </p:txBody>
      </p:sp>
      <p:pic>
        <p:nvPicPr>
          <p:cNvPr id="23" name="Image 1" descr="https://kimi-img.moonshot.cn/pub/slides/slides_tmpl/image/25-08-27-20:04:32-d2nf8k18bjvh7rlj0a6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168" y="1412240"/>
            <a:ext cx="1320800" cy="1371600"/>
          </a:xfrm>
          <a:prstGeom prst="rect">
            <a:avLst/>
          </a:prstGeom>
        </p:spPr>
      </p:pic>
      <p:pic>
        <p:nvPicPr>
          <p:cNvPr id="24" name="Image 2" descr="https://kimi-img.moonshot.cn/pub/slides/slides_tmpl/image/25-08-27-20:04:32-d2nf8k18bjvh7rlj0a6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5946" y="4391660"/>
            <a:ext cx="983056" cy="907962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1273269" y="2275839"/>
            <a:ext cx="539750" cy="508001"/>
          </a:xfrm>
          <a:prstGeom prst="ellipse">
            <a:avLst/>
          </a:prstGeom>
          <a:solidFill>
            <a:srgbClr val="B2C4FF"/>
          </a:solidFill>
          <a:ln/>
        </p:spPr>
      </p:sp>
      <p:sp>
        <p:nvSpPr>
          <p:cNvPr id="26" name="Text 21"/>
          <p:cNvSpPr/>
          <p:nvPr/>
        </p:nvSpPr>
        <p:spPr>
          <a:xfrm>
            <a:off x="1273269" y="2275839"/>
            <a:ext cx="539750" cy="50800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27" name="Image 3" descr="https://kimi-img.moonshot.cn/pub/slides/slides_tmpl/image/25-08-27-20:04:32-d2nf8k18bjvh7rlj0a6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67925" y="5073480"/>
            <a:ext cx="731154" cy="676035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11511842" y="1219363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9" name="Text 23"/>
          <p:cNvSpPr/>
          <p:nvPr/>
        </p:nvSpPr>
        <p:spPr>
          <a:xfrm>
            <a:off x="11511842" y="1219363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0" name="Shape 24"/>
          <p:cNvSpPr/>
          <p:nvPr/>
        </p:nvSpPr>
        <p:spPr>
          <a:xfrm>
            <a:off x="11511842" y="1019337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1" name="Text 25"/>
          <p:cNvSpPr/>
          <p:nvPr/>
        </p:nvSpPr>
        <p:spPr>
          <a:xfrm>
            <a:off x="11511842" y="1019337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2" name="Shape 26"/>
          <p:cNvSpPr/>
          <p:nvPr/>
        </p:nvSpPr>
        <p:spPr>
          <a:xfrm>
            <a:off x="11511842" y="819312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3" name="Text 27"/>
          <p:cNvSpPr/>
          <p:nvPr/>
        </p:nvSpPr>
        <p:spPr>
          <a:xfrm>
            <a:off x="11511842" y="819312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4" name="Shape 28"/>
          <p:cNvSpPr/>
          <p:nvPr/>
        </p:nvSpPr>
        <p:spPr>
          <a:xfrm>
            <a:off x="11511842" y="61928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5" name="Text 29"/>
          <p:cNvSpPr/>
          <p:nvPr/>
        </p:nvSpPr>
        <p:spPr>
          <a:xfrm>
            <a:off x="11511842" y="61928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6" name="Shape 30"/>
          <p:cNvSpPr/>
          <p:nvPr/>
        </p:nvSpPr>
        <p:spPr>
          <a:xfrm>
            <a:off x="11511842" y="201247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7" name="Text 31"/>
          <p:cNvSpPr/>
          <p:nvPr/>
        </p:nvSpPr>
        <p:spPr>
          <a:xfrm>
            <a:off x="11511842" y="201247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8" name="Shape 32"/>
          <p:cNvSpPr/>
          <p:nvPr/>
        </p:nvSpPr>
        <p:spPr>
          <a:xfrm>
            <a:off x="11511842" y="1812453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9" name="Text 33"/>
          <p:cNvSpPr/>
          <p:nvPr/>
        </p:nvSpPr>
        <p:spPr>
          <a:xfrm>
            <a:off x="11511842" y="1812453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0" name="Shape 34"/>
          <p:cNvSpPr/>
          <p:nvPr/>
        </p:nvSpPr>
        <p:spPr>
          <a:xfrm>
            <a:off x="11511842" y="161242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1" name="Text 35"/>
          <p:cNvSpPr/>
          <p:nvPr/>
        </p:nvSpPr>
        <p:spPr>
          <a:xfrm>
            <a:off x="11511842" y="161242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2" name="Shape 36"/>
          <p:cNvSpPr/>
          <p:nvPr/>
        </p:nvSpPr>
        <p:spPr>
          <a:xfrm>
            <a:off x="11511842" y="141240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3" name="Text 37"/>
          <p:cNvSpPr/>
          <p:nvPr/>
        </p:nvSpPr>
        <p:spPr>
          <a:xfrm>
            <a:off x="11511842" y="141240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4" name="Shape 38"/>
          <p:cNvSpPr/>
          <p:nvPr/>
        </p:nvSpPr>
        <p:spPr>
          <a:xfrm>
            <a:off x="318177" y="5725159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5" name="Text 39"/>
          <p:cNvSpPr/>
          <p:nvPr/>
        </p:nvSpPr>
        <p:spPr>
          <a:xfrm>
            <a:off x="318177" y="5725159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6" name="Shape 40"/>
          <p:cNvSpPr/>
          <p:nvPr/>
        </p:nvSpPr>
        <p:spPr>
          <a:xfrm>
            <a:off x="318178" y="552513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7" name="Text 41"/>
          <p:cNvSpPr/>
          <p:nvPr/>
        </p:nvSpPr>
        <p:spPr>
          <a:xfrm>
            <a:off x="318178" y="552513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8" name="Shape 42"/>
          <p:cNvSpPr/>
          <p:nvPr/>
        </p:nvSpPr>
        <p:spPr>
          <a:xfrm>
            <a:off x="318178" y="5325109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9" name="Text 43"/>
          <p:cNvSpPr/>
          <p:nvPr/>
        </p:nvSpPr>
        <p:spPr>
          <a:xfrm>
            <a:off x="318178" y="5325109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0" name="Shape 44"/>
          <p:cNvSpPr/>
          <p:nvPr/>
        </p:nvSpPr>
        <p:spPr>
          <a:xfrm>
            <a:off x="318178" y="512508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1" name="Text 45"/>
          <p:cNvSpPr/>
          <p:nvPr/>
        </p:nvSpPr>
        <p:spPr>
          <a:xfrm>
            <a:off x="318178" y="512508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2" name="Shape 46"/>
          <p:cNvSpPr/>
          <p:nvPr/>
        </p:nvSpPr>
        <p:spPr>
          <a:xfrm>
            <a:off x="318177" y="651827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3" name="Text 47"/>
          <p:cNvSpPr/>
          <p:nvPr/>
        </p:nvSpPr>
        <p:spPr>
          <a:xfrm>
            <a:off x="318177" y="651827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4" name="Shape 48"/>
          <p:cNvSpPr/>
          <p:nvPr/>
        </p:nvSpPr>
        <p:spPr>
          <a:xfrm>
            <a:off x="318178" y="6318250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5" name="Text 49"/>
          <p:cNvSpPr/>
          <p:nvPr/>
        </p:nvSpPr>
        <p:spPr>
          <a:xfrm>
            <a:off x="318178" y="6318250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6" name="Shape 50"/>
          <p:cNvSpPr/>
          <p:nvPr/>
        </p:nvSpPr>
        <p:spPr>
          <a:xfrm>
            <a:off x="318178" y="611822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7" name="Text 51"/>
          <p:cNvSpPr/>
          <p:nvPr/>
        </p:nvSpPr>
        <p:spPr>
          <a:xfrm>
            <a:off x="318178" y="611822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8" name="Shape 52"/>
          <p:cNvSpPr/>
          <p:nvPr/>
        </p:nvSpPr>
        <p:spPr>
          <a:xfrm>
            <a:off x="318178" y="5918201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9" name="Text 53"/>
          <p:cNvSpPr/>
          <p:nvPr/>
        </p:nvSpPr>
        <p:spPr>
          <a:xfrm>
            <a:off x="318178" y="5918201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gradFill flip="none" rotWithShape="0">
          <a:gsLst>
            <a:gs pos="0">
              <a:srgbClr val="FFF2C6"/>
            </a:gs>
            <a:gs pos="74000">
              <a:srgbClr val="C7D5FC"/>
            </a:gs>
            <a:gs pos="83000">
              <a:srgbClr val="D8E1FD"/>
            </a:gs>
            <a:gs pos="100000">
              <a:srgbClr val="D8E1FD"/>
            </a:gs>
          </a:gsLst>
          <a:path path="circle">
            <a:fillToRect l="100000" t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24336" y="437500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2724336" y="437500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2924361" y="437500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2924361" y="437500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124386" y="437500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3124386" y="437500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324411" y="437500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3324411" y="437500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831910" y="1202223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5831910" y="1202223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031935" y="1202223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6031935" y="1202223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31960" y="1202223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6231960" y="1202223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31985" y="1202223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431985" y="1202223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831923" y="3020777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5831923" y="3020777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031948" y="3020777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6031948" y="3020777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6231973" y="3020777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6231973" y="3020777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6431998" y="3020777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5" name="Text 23"/>
          <p:cNvSpPr/>
          <p:nvPr/>
        </p:nvSpPr>
        <p:spPr>
          <a:xfrm>
            <a:off x="6431998" y="3020777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9456625" y="296849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9456625" y="296849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9656650" y="296849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9656650" y="296849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9856675" y="296849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1" name="Text 29"/>
          <p:cNvSpPr/>
          <p:nvPr/>
        </p:nvSpPr>
        <p:spPr>
          <a:xfrm>
            <a:off x="9856675" y="296849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10056700" y="296849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10056700" y="296849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9460361" y="1202223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5" name="Text 33"/>
          <p:cNvSpPr/>
          <p:nvPr/>
        </p:nvSpPr>
        <p:spPr>
          <a:xfrm>
            <a:off x="9460361" y="1202223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9660386" y="1202223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7" name="Text 35"/>
          <p:cNvSpPr/>
          <p:nvPr/>
        </p:nvSpPr>
        <p:spPr>
          <a:xfrm>
            <a:off x="9660386" y="1202223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9860411" y="1202223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9860411" y="1202223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10060436" y="1202223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1" name="Text 39"/>
          <p:cNvSpPr/>
          <p:nvPr/>
        </p:nvSpPr>
        <p:spPr>
          <a:xfrm>
            <a:off x="10060436" y="1202223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1873023" y="437500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3" name="Text 41"/>
          <p:cNvSpPr/>
          <p:nvPr/>
        </p:nvSpPr>
        <p:spPr>
          <a:xfrm>
            <a:off x="1873023" y="437500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2073048" y="437500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5" name="Text 43"/>
          <p:cNvSpPr/>
          <p:nvPr/>
        </p:nvSpPr>
        <p:spPr>
          <a:xfrm>
            <a:off x="2073048" y="437500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2273073" y="437500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7" name="Text 45"/>
          <p:cNvSpPr/>
          <p:nvPr/>
        </p:nvSpPr>
        <p:spPr>
          <a:xfrm>
            <a:off x="2273073" y="437500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8" name="Shape 46"/>
          <p:cNvSpPr/>
          <p:nvPr/>
        </p:nvSpPr>
        <p:spPr>
          <a:xfrm>
            <a:off x="2473098" y="437500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2473098" y="437500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5831910" y="487794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1" name="Text 49"/>
          <p:cNvSpPr/>
          <p:nvPr/>
        </p:nvSpPr>
        <p:spPr>
          <a:xfrm>
            <a:off x="5831910" y="487794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2" name="Shape 50"/>
          <p:cNvSpPr/>
          <p:nvPr/>
        </p:nvSpPr>
        <p:spPr>
          <a:xfrm>
            <a:off x="6031935" y="487794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3" name="Text 51"/>
          <p:cNvSpPr/>
          <p:nvPr/>
        </p:nvSpPr>
        <p:spPr>
          <a:xfrm>
            <a:off x="6031935" y="487794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4" name="Shape 52"/>
          <p:cNvSpPr/>
          <p:nvPr/>
        </p:nvSpPr>
        <p:spPr>
          <a:xfrm>
            <a:off x="6231960" y="487794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5" name="Text 53"/>
          <p:cNvSpPr/>
          <p:nvPr/>
        </p:nvSpPr>
        <p:spPr>
          <a:xfrm>
            <a:off x="6231960" y="487794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6431985" y="487794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7" name="Text 55"/>
          <p:cNvSpPr/>
          <p:nvPr/>
        </p:nvSpPr>
        <p:spPr>
          <a:xfrm>
            <a:off x="6431985" y="487794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8" name="Shape 56"/>
          <p:cNvSpPr/>
          <p:nvPr/>
        </p:nvSpPr>
        <p:spPr>
          <a:xfrm>
            <a:off x="1023882" y="995099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9" name="Text 57"/>
          <p:cNvSpPr/>
          <p:nvPr/>
        </p:nvSpPr>
        <p:spPr>
          <a:xfrm>
            <a:off x="1023882" y="995099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0" name="Shape 58"/>
          <p:cNvSpPr/>
          <p:nvPr/>
        </p:nvSpPr>
        <p:spPr>
          <a:xfrm>
            <a:off x="1223907" y="995099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1" name="Text 59"/>
          <p:cNvSpPr/>
          <p:nvPr/>
        </p:nvSpPr>
        <p:spPr>
          <a:xfrm>
            <a:off x="1223907" y="995099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2" name="Shape 60"/>
          <p:cNvSpPr/>
          <p:nvPr/>
        </p:nvSpPr>
        <p:spPr>
          <a:xfrm>
            <a:off x="1423932" y="995099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3" name="Text 61"/>
          <p:cNvSpPr/>
          <p:nvPr/>
        </p:nvSpPr>
        <p:spPr>
          <a:xfrm>
            <a:off x="1423932" y="995099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1623957" y="995099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5" name="Text 63"/>
          <p:cNvSpPr/>
          <p:nvPr/>
        </p:nvSpPr>
        <p:spPr>
          <a:xfrm>
            <a:off x="1623957" y="995099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6" name="Shape 64"/>
          <p:cNvSpPr/>
          <p:nvPr/>
        </p:nvSpPr>
        <p:spPr>
          <a:xfrm>
            <a:off x="820519" y="1735623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7" name="Text 65"/>
          <p:cNvSpPr/>
          <p:nvPr/>
        </p:nvSpPr>
        <p:spPr>
          <a:xfrm>
            <a:off x="820519" y="1735623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8" name="Shape 66"/>
          <p:cNvSpPr/>
          <p:nvPr/>
        </p:nvSpPr>
        <p:spPr>
          <a:xfrm>
            <a:off x="820519" y="1535597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9" name="Text 67"/>
          <p:cNvSpPr/>
          <p:nvPr/>
        </p:nvSpPr>
        <p:spPr>
          <a:xfrm>
            <a:off x="820519" y="1535597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0" name="Shape 68"/>
          <p:cNvSpPr/>
          <p:nvPr/>
        </p:nvSpPr>
        <p:spPr>
          <a:xfrm>
            <a:off x="820519" y="1335572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1" name="Text 69"/>
          <p:cNvSpPr/>
          <p:nvPr/>
        </p:nvSpPr>
        <p:spPr>
          <a:xfrm>
            <a:off x="820519" y="1335572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2" name="Shape 70"/>
          <p:cNvSpPr/>
          <p:nvPr/>
        </p:nvSpPr>
        <p:spPr>
          <a:xfrm>
            <a:off x="820520" y="113554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3" name="Text 71"/>
          <p:cNvSpPr/>
          <p:nvPr/>
        </p:nvSpPr>
        <p:spPr>
          <a:xfrm>
            <a:off x="820520" y="113554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74" name="Image 0" descr="https://kimi-img.moonshot.cn/pub/slides/slides_tmpl/image/25-08-27-20:04:32-d2nf8k18bjvh7rlj0a5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5180" y="4587240"/>
            <a:ext cx="152400" cy="1524000"/>
          </a:xfrm>
          <a:prstGeom prst="rect">
            <a:avLst/>
          </a:prstGeom>
        </p:spPr>
      </p:pic>
      <p:sp>
        <p:nvSpPr>
          <p:cNvPr id="75" name="Shape 72"/>
          <p:cNvSpPr/>
          <p:nvPr/>
        </p:nvSpPr>
        <p:spPr>
          <a:xfrm>
            <a:off x="10527292" y="6404029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6" name="Text 73"/>
          <p:cNvSpPr/>
          <p:nvPr/>
        </p:nvSpPr>
        <p:spPr>
          <a:xfrm>
            <a:off x="10527292" y="6404029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7" name="Shape 74"/>
          <p:cNvSpPr/>
          <p:nvPr/>
        </p:nvSpPr>
        <p:spPr>
          <a:xfrm>
            <a:off x="10727317" y="6404029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8" name="Text 75"/>
          <p:cNvSpPr/>
          <p:nvPr/>
        </p:nvSpPr>
        <p:spPr>
          <a:xfrm>
            <a:off x="10727317" y="6404029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9" name="Shape 76"/>
          <p:cNvSpPr/>
          <p:nvPr/>
        </p:nvSpPr>
        <p:spPr>
          <a:xfrm>
            <a:off x="10927342" y="6404029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0" name="Text 77"/>
          <p:cNvSpPr/>
          <p:nvPr/>
        </p:nvSpPr>
        <p:spPr>
          <a:xfrm>
            <a:off x="10927342" y="6404029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1" name="Shape 78"/>
          <p:cNvSpPr/>
          <p:nvPr/>
        </p:nvSpPr>
        <p:spPr>
          <a:xfrm>
            <a:off x="11127367" y="6404029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2" name="Text 79"/>
          <p:cNvSpPr/>
          <p:nvPr/>
        </p:nvSpPr>
        <p:spPr>
          <a:xfrm>
            <a:off x="11127367" y="6404029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3" name="Shape 80"/>
          <p:cNvSpPr/>
          <p:nvPr/>
        </p:nvSpPr>
        <p:spPr>
          <a:xfrm>
            <a:off x="11336120" y="6541302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4" name="Text 81"/>
          <p:cNvSpPr/>
          <p:nvPr/>
        </p:nvSpPr>
        <p:spPr>
          <a:xfrm>
            <a:off x="11336120" y="6541302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5" name="Shape 82"/>
          <p:cNvSpPr/>
          <p:nvPr/>
        </p:nvSpPr>
        <p:spPr>
          <a:xfrm>
            <a:off x="11336120" y="6341277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6" name="Text 83"/>
          <p:cNvSpPr/>
          <p:nvPr/>
        </p:nvSpPr>
        <p:spPr>
          <a:xfrm>
            <a:off x="11336120" y="6341277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7" name="Shape 84"/>
          <p:cNvSpPr/>
          <p:nvPr/>
        </p:nvSpPr>
        <p:spPr>
          <a:xfrm>
            <a:off x="11336120" y="6141252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8" name="Text 85"/>
          <p:cNvSpPr/>
          <p:nvPr/>
        </p:nvSpPr>
        <p:spPr>
          <a:xfrm>
            <a:off x="11336120" y="6141252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9" name="Shape 86"/>
          <p:cNvSpPr/>
          <p:nvPr/>
        </p:nvSpPr>
        <p:spPr>
          <a:xfrm>
            <a:off x="11336120" y="594122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0" name="Text 87"/>
          <p:cNvSpPr/>
          <p:nvPr/>
        </p:nvSpPr>
        <p:spPr>
          <a:xfrm>
            <a:off x="11336120" y="594122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91" name="Image 1" descr="https://kimi-img.moonshot.cn/pub/slides/slides_tmpl/image/25-08-27-20:04:32-d2nf8k18bjvh7rlj0a6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6204" y="4909876"/>
            <a:ext cx="1320800" cy="1371600"/>
          </a:xfrm>
          <a:prstGeom prst="rect">
            <a:avLst/>
          </a:prstGeom>
        </p:spPr>
      </p:pic>
      <p:pic>
        <p:nvPicPr>
          <p:cNvPr id="92" name="Image 2" descr="https://kimi-img.moonshot.cn/pub/slides/slides_tmpl/image/25-08-27-20:04:32-d2nf8k18bjvh7rlj0a6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56995" y="1202055"/>
            <a:ext cx="1041400" cy="962025"/>
          </a:xfrm>
          <a:prstGeom prst="rect">
            <a:avLst/>
          </a:prstGeom>
        </p:spPr>
      </p:pic>
      <p:sp>
        <p:nvSpPr>
          <p:cNvPr id="93" name="Shape 88"/>
          <p:cNvSpPr/>
          <p:nvPr/>
        </p:nvSpPr>
        <p:spPr>
          <a:xfrm>
            <a:off x="10762111" y="4770810"/>
            <a:ext cx="539750" cy="508001"/>
          </a:xfrm>
          <a:prstGeom prst="ellipse">
            <a:avLst/>
          </a:prstGeom>
          <a:solidFill>
            <a:srgbClr val="B2C4FF"/>
          </a:solidFill>
          <a:ln/>
        </p:spPr>
      </p:sp>
      <p:sp>
        <p:nvSpPr>
          <p:cNvPr id="94" name="Text 89"/>
          <p:cNvSpPr/>
          <p:nvPr/>
        </p:nvSpPr>
        <p:spPr>
          <a:xfrm>
            <a:off x="10762111" y="4770810"/>
            <a:ext cx="539750" cy="50800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95" name="Image 3" descr="https://kimi-img.moonshot.cn/pub/slides/slides_tmpl/image/25-08-27-20:04:32-d2nf8k18bjvh7rlj0a6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3866" y="1735624"/>
            <a:ext cx="731154" cy="676035"/>
          </a:xfrm>
          <a:prstGeom prst="rect">
            <a:avLst/>
          </a:prstGeom>
        </p:spPr>
      </p:pic>
      <p:sp>
        <p:nvSpPr>
          <p:cNvPr id="96" name="Text 90"/>
          <p:cNvSpPr/>
          <p:nvPr/>
        </p:nvSpPr>
        <p:spPr>
          <a:xfrm>
            <a:off x="1010920" y="2968625"/>
            <a:ext cx="3543935" cy="7683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400" b="1" dirty="0">
                <a:solidFill>
                  <a:srgbClr val="6D7EC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Contents</a:t>
            </a:r>
            <a:endParaRPr lang="en-US" sz="1600" dirty="0"/>
          </a:p>
        </p:txBody>
      </p:sp>
      <p:sp>
        <p:nvSpPr>
          <p:cNvPr id="97" name="Text 91"/>
          <p:cNvSpPr/>
          <p:nvPr/>
        </p:nvSpPr>
        <p:spPr>
          <a:xfrm>
            <a:off x="6670914" y="728660"/>
            <a:ext cx="1041400" cy="82994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4800" dirty="0">
                <a:solidFill>
                  <a:srgbClr val="6D7A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01.</a:t>
            </a:r>
            <a:endParaRPr lang="en-US" sz="1600" dirty="0"/>
          </a:p>
        </p:txBody>
      </p:sp>
      <p:sp>
        <p:nvSpPr>
          <p:cNvPr id="98" name="Text 92"/>
          <p:cNvSpPr/>
          <p:nvPr/>
        </p:nvSpPr>
        <p:spPr>
          <a:xfrm>
            <a:off x="4100195" y="1610360"/>
            <a:ext cx="3578860" cy="11988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2400" dirty="0">
                <a:solidFill>
                  <a:srgbClr val="6D7A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Kick-off &amp; Recap</a:t>
            </a:r>
            <a:endParaRPr lang="en-US" sz="1600" dirty="0"/>
          </a:p>
        </p:txBody>
      </p:sp>
      <p:sp>
        <p:nvSpPr>
          <p:cNvPr id="99" name="Text 93"/>
          <p:cNvSpPr/>
          <p:nvPr/>
        </p:nvSpPr>
        <p:spPr>
          <a:xfrm>
            <a:off x="10260460" y="728660"/>
            <a:ext cx="1418033" cy="82994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4800" dirty="0">
                <a:solidFill>
                  <a:srgbClr val="6D7A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02.</a:t>
            </a:r>
            <a:endParaRPr lang="en-US" sz="1600" dirty="0"/>
          </a:p>
        </p:txBody>
      </p:sp>
      <p:sp>
        <p:nvSpPr>
          <p:cNvPr id="100" name="Text 94"/>
          <p:cNvSpPr/>
          <p:nvPr/>
        </p:nvSpPr>
        <p:spPr>
          <a:xfrm>
            <a:off x="8164830" y="1673225"/>
            <a:ext cx="3512820" cy="113728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2400" dirty="0">
                <a:solidFill>
                  <a:srgbClr val="6D7ECC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Frontend Blueprint</a:t>
            </a:r>
            <a:endParaRPr lang="en-US" sz="1600" dirty="0"/>
          </a:p>
        </p:txBody>
      </p:sp>
      <p:sp>
        <p:nvSpPr>
          <p:cNvPr id="101" name="Text 95"/>
          <p:cNvSpPr/>
          <p:nvPr/>
        </p:nvSpPr>
        <p:spPr>
          <a:xfrm>
            <a:off x="6666865" y="2537460"/>
            <a:ext cx="1751965" cy="82994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4800" dirty="0">
                <a:solidFill>
                  <a:srgbClr val="6D7A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03.</a:t>
            </a:r>
            <a:endParaRPr lang="en-US" sz="1600" dirty="0"/>
          </a:p>
        </p:txBody>
      </p:sp>
      <p:sp>
        <p:nvSpPr>
          <p:cNvPr id="102" name="Text 96"/>
          <p:cNvSpPr/>
          <p:nvPr/>
        </p:nvSpPr>
        <p:spPr>
          <a:xfrm>
            <a:off x="4100195" y="3418840"/>
            <a:ext cx="3608070" cy="11988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2400" dirty="0">
                <a:solidFill>
                  <a:srgbClr val="6D7A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Code &amp; Integration</a:t>
            </a:r>
            <a:endParaRPr lang="en-US" sz="1600" dirty="0"/>
          </a:p>
        </p:txBody>
      </p:sp>
      <p:sp>
        <p:nvSpPr>
          <p:cNvPr id="103" name="Text 97"/>
          <p:cNvSpPr/>
          <p:nvPr/>
        </p:nvSpPr>
        <p:spPr>
          <a:xfrm>
            <a:off x="10260330" y="2537460"/>
            <a:ext cx="1668145" cy="82994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4800" dirty="0">
                <a:solidFill>
                  <a:srgbClr val="6D7A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04.</a:t>
            </a:r>
            <a:endParaRPr lang="en-US" sz="1600" dirty="0"/>
          </a:p>
        </p:txBody>
      </p:sp>
      <p:sp>
        <p:nvSpPr>
          <p:cNvPr id="104" name="Text 98"/>
          <p:cNvSpPr/>
          <p:nvPr/>
        </p:nvSpPr>
        <p:spPr>
          <a:xfrm>
            <a:off x="8164830" y="3408680"/>
            <a:ext cx="3512820" cy="11988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2400" dirty="0">
                <a:solidFill>
                  <a:srgbClr val="6D7A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Test &amp; Harden</a:t>
            </a:r>
            <a:endParaRPr lang="en-US" sz="1600" dirty="0"/>
          </a:p>
        </p:txBody>
      </p:sp>
      <p:sp>
        <p:nvSpPr>
          <p:cNvPr id="105" name="Text 99"/>
          <p:cNvSpPr/>
          <p:nvPr/>
        </p:nvSpPr>
        <p:spPr>
          <a:xfrm>
            <a:off x="6675755" y="4427220"/>
            <a:ext cx="1752600" cy="82994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4800" dirty="0">
                <a:solidFill>
                  <a:srgbClr val="6D7A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05.</a:t>
            </a:r>
            <a:endParaRPr lang="en-US" sz="1600" dirty="0"/>
          </a:p>
        </p:txBody>
      </p:sp>
      <p:sp>
        <p:nvSpPr>
          <p:cNvPr id="106" name="Text 100"/>
          <p:cNvSpPr/>
          <p:nvPr/>
        </p:nvSpPr>
        <p:spPr>
          <a:xfrm>
            <a:off x="4137660" y="5234940"/>
            <a:ext cx="3608070" cy="11988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2400" dirty="0">
                <a:solidFill>
                  <a:srgbClr val="6D7A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Ship &amp; Next Steps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gradFill flip="none" rotWithShape="0">
          <a:gsLst>
            <a:gs pos="0">
              <a:srgbClr val="FFF2C6"/>
            </a:gs>
            <a:gs pos="47000">
              <a:srgbClr val="D8E1FD"/>
            </a:gs>
            <a:gs pos="78000">
              <a:srgbClr val="C7D5FC"/>
            </a:gs>
            <a:gs pos="100000">
              <a:srgbClr val="FDF8CB"/>
            </a:gs>
          </a:gsLst>
          <a:lin ang="2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4:38-d2nf8lh8bjvh7rlj0ae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8399" y="517692"/>
            <a:ext cx="7251700" cy="63403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48502" y="2308860"/>
            <a:ext cx="4599086" cy="39395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5000" dirty="0">
                <a:solidFill>
                  <a:srgbClr val="7F9CD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01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97560" y="1932305"/>
            <a:ext cx="10755630" cy="11988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6D7A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Kick-off &amp; Recap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31049" y="85600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731049" y="85600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931074" y="85600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931074" y="85600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131099" y="85600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1131099" y="85600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331124" y="85600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1331124" y="85600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27687" y="1596530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527687" y="1596530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27687" y="139650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527687" y="139650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27687" y="1196479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527687" y="1196479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27687" y="99645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7"/>
          <p:cNvSpPr/>
          <p:nvPr/>
        </p:nvSpPr>
        <p:spPr>
          <a:xfrm>
            <a:off x="527687" y="99645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21" name="Image 1" descr="https://kimi-img.moonshot.cn/pub/slides/slides_tmpl/image/25-08-27-20:04:34-d2nf8kh8bjvh7rlj0a80.png"/>
          <p:cNvPicPr>
            <a:picLocks noChangeAspect="1"/>
          </p:cNvPicPr>
          <p:nvPr/>
        </p:nvPicPr>
        <p:blipFill>
          <a:blip r:embed="rId4">
            <a:alphaModFix amt="59000"/>
          </a:blip>
          <a:stretch>
            <a:fillRect/>
          </a:stretch>
        </p:blipFill>
        <p:spPr>
          <a:xfrm>
            <a:off x="5131435" y="330200"/>
            <a:ext cx="7048500" cy="6197600"/>
          </a:xfrm>
          <a:prstGeom prst="rect">
            <a:avLst/>
          </a:prstGeom>
        </p:spPr>
      </p:pic>
      <p:pic>
        <p:nvPicPr>
          <p:cNvPr id="22" name="Image 2" descr="https://kimi-img.moonshot.cn/pub/slides/slides_tmpl/image/25-08-27-20:04:33-d2nf8k98bjvh7rlj0a7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797300"/>
            <a:ext cx="5143500" cy="3060700"/>
          </a:xfrm>
          <a:prstGeom prst="rect">
            <a:avLst/>
          </a:prstGeom>
        </p:spPr>
      </p:pic>
      <p:pic>
        <p:nvPicPr>
          <p:cNvPr id="23" name="Image 3" descr="https://kimi-img.moonshot.cn/pub/slides/slides_tmpl/image/25-08-27-20:04:32-d2nf8k18bjvh7rlj0a5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445" y="4587240"/>
            <a:ext cx="152400" cy="1524000"/>
          </a:xfrm>
          <a:prstGeom prst="rect">
            <a:avLst/>
          </a:prstGeom>
        </p:spPr>
      </p:pic>
      <p:pic>
        <p:nvPicPr>
          <p:cNvPr id="24" name="Image 4" descr="https://kimi-img.moonshot.cn/pub/slides/slides_tmpl/image/25-08-27-20:04:32-d2nf8k18bjvh7rlj0a6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11275" y="3907257"/>
            <a:ext cx="1320800" cy="1371600"/>
          </a:xfrm>
          <a:prstGeom prst="rect">
            <a:avLst/>
          </a:prstGeom>
        </p:spPr>
      </p:pic>
      <p:pic>
        <p:nvPicPr>
          <p:cNvPr id="25" name="Image 5" descr="https://kimi-img.moonshot.cn/pub/slides/slides_tmpl/image/25-08-27-20:04:32-d2nf8k18bjvh7rlj0a6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70172" y="1111250"/>
            <a:ext cx="983056" cy="907962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1101725" y="3958057"/>
            <a:ext cx="539750" cy="508001"/>
          </a:xfrm>
          <a:prstGeom prst="ellipse">
            <a:avLst/>
          </a:prstGeom>
          <a:solidFill>
            <a:srgbClr val="B2C4FF"/>
          </a:solidFill>
          <a:ln/>
        </p:spPr>
      </p:sp>
      <p:sp>
        <p:nvSpPr>
          <p:cNvPr id="27" name="Text 19"/>
          <p:cNvSpPr/>
          <p:nvPr/>
        </p:nvSpPr>
        <p:spPr>
          <a:xfrm>
            <a:off x="1101725" y="3958057"/>
            <a:ext cx="539750" cy="50800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28" name="Image 6" descr="https://kimi-img.moonshot.cn/pub/slides/slides_tmpl/image/25-08-27-20:04:32-d2nf8k18bjvh7rlj0a6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87651" y="1515914"/>
            <a:ext cx="731154" cy="67603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C7D5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4:45-d2nf8n98bjvh7rlj0aqg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7969" y="0"/>
            <a:ext cx="3690359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59579" y="605009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1"/>
          <p:cNvSpPr/>
          <p:nvPr/>
        </p:nvSpPr>
        <p:spPr>
          <a:xfrm>
            <a:off x="1059579" y="605009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1259604" y="605009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1259604" y="605009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459629" y="605009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1459629" y="605009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659654" y="605009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1659654" y="605009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856216" y="1345533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856216" y="1345533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856216" y="1145507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856216" y="1145507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856216" y="945482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856216" y="945482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56217" y="74545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856217" y="74545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108075" y="826770"/>
            <a:ext cx="6337935" cy="146240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just">
              <a:lnSpc>
                <a:spcPct val="100000"/>
              </a:lnSpc>
            </a:pPr>
            <a:r>
              <a:rPr lang="en-US" sz="28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Day 3 Mission &amp; Agenda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960070" y="1921539"/>
            <a:ext cx="228803" cy="212992"/>
          </a:xfrm>
          <a:prstGeom prst="ellipse">
            <a:avLst/>
          </a:prstGeom>
          <a:solidFill>
            <a:srgbClr val="000000">
              <a:alpha val="0"/>
            </a:srgbClr>
          </a:solidFill>
          <a:ln w="41275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960070" y="1921539"/>
            <a:ext cx="228803" cy="212992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1036469" y="1962077"/>
            <a:ext cx="137562" cy="131914"/>
          </a:xfrm>
          <a:prstGeom prst="ellipse">
            <a:avLst/>
          </a:prstGeom>
          <a:solidFill>
            <a:srgbClr val="C1CEF6"/>
          </a:solidFill>
          <a:ln/>
        </p:spPr>
      </p:sp>
      <p:sp>
        <p:nvSpPr>
          <p:cNvPr id="23" name="Text 20"/>
          <p:cNvSpPr/>
          <p:nvPr/>
        </p:nvSpPr>
        <p:spPr>
          <a:xfrm>
            <a:off x="1036469" y="1962077"/>
            <a:ext cx="137562" cy="13191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678815" y="3482340"/>
            <a:ext cx="8752205" cy="1718945"/>
          </a:xfrm>
          <a:prstGeom prst="roundRect">
            <a:avLst>
              <a:gd name="adj" fmla="val 16667"/>
            </a:avLst>
          </a:prstGeom>
          <a:solidFill>
            <a:srgbClr val="F9F1DC"/>
          </a:solidFill>
          <a:ln/>
          <a:effectLst>
            <a:outerShdw blurRad="647378" dist="50800" dir="2700000" algn="bl" rotWithShape="0">
              <a:srgbClr val="6D7ECC">
                <a:alpha val="45882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678815" y="3482340"/>
            <a:ext cx="8752205" cy="1718945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938747" y="3724315"/>
            <a:ext cx="228803" cy="212992"/>
          </a:xfrm>
          <a:prstGeom prst="ellipse">
            <a:avLst/>
          </a:prstGeom>
          <a:solidFill>
            <a:srgbClr val="000000">
              <a:alpha val="0"/>
            </a:srgbClr>
          </a:solidFill>
          <a:ln w="41275">
            <a:solidFill>
              <a:srgbClr val="FFFFFF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938747" y="3724315"/>
            <a:ext cx="228803" cy="212992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1015146" y="3764853"/>
            <a:ext cx="137562" cy="131914"/>
          </a:xfrm>
          <a:prstGeom prst="ellipse">
            <a:avLst/>
          </a:prstGeom>
          <a:solidFill>
            <a:srgbClr val="C1CEF6"/>
          </a:solidFill>
          <a:ln/>
        </p:spPr>
      </p:sp>
      <p:sp>
        <p:nvSpPr>
          <p:cNvPr id="29" name="Text 26"/>
          <p:cNvSpPr/>
          <p:nvPr/>
        </p:nvSpPr>
        <p:spPr>
          <a:xfrm>
            <a:off x="1015146" y="3764853"/>
            <a:ext cx="137562" cy="13191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920117" y="5382943"/>
            <a:ext cx="228803" cy="212992"/>
          </a:xfrm>
          <a:prstGeom prst="ellipse">
            <a:avLst/>
          </a:prstGeom>
          <a:solidFill>
            <a:srgbClr val="000000">
              <a:alpha val="0"/>
            </a:srgbClr>
          </a:solidFill>
          <a:ln w="41275">
            <a:solidFill>
              <a:srgbClr val="FFFFFF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920117" y="5382943"/>
            <a:ext cx="228803" cy="212992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2" name="Shape 29"/>
          <p:cNvSpPr/>
          <p:nvPr/>
        </p:nvSpPr>
        <p:spPr>
          <a:xfrm>
            <a:off x="996516" y="5423481"/>
            <a:ext cx="137562" cy="131914"/>
          </a:xfrm>
          <a:prstGeom prst="ellipse">
            <a:avLst/>
          </a:prstGeom>
          <a:solidFill>
            <a:srgbClr val="C1CEF6"/>
          </a:solidFill>
          <a:ln/>
        </p:spPr>
      </p:sp>
      <p:sp>
        <p:nvSpPr>
          <p:cNvPr id="33" name="Text 30"/>
          <p:cNvSpPr/>
          <p:nvPr/>
        </p:nvSpPr>
        <p:spPr>
          <a:xfrm>
            <a:off x="996516" y="5423481"/>
            <a:ext cx="137562" cy="13191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34" name="Image 1" descr="https://kimi-img.moonshot.cn/pub/slides/slides_tmpl/image/25-08-27-20:04:45-d2nf8n98bjvh7rlj0arg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0980" y="301521"/>
            <a:ext cx="1353928" cy="2102570"/>
          </a:xfrm>
          <a:prstGeom prst="rect">
            <a:avLst/>
          </a:prstGeom>
        </p:spPr>
      </p:pic>
      <p:sp>
        <p:nvSpPr>
          <p:cNvPr id="35" name="Text 31"/>
          <p:cNvSpPr/>
          <p:nvPr/>
        </p:nvSpPr>
        <p:spPr>
          <a:xfrm>
            <a:off x="1259604" y="1843553"/>
            <a:ext cx="6122428" cy="6771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Day 3 Goal</a:t>
            </a:r>
            <a:endParaRPr lang="en-US" sz="1600" dirty="0"/>
          </a:p>
        </p:txBody>
      </p:sp>
      <p:sp>
        <p:nvSpPr>
          <p:cNvPr id="36" name="Text 32"/>
          <p:cNvSpPr/>
          <p:nvPr/>
        </p:nvSpPr>
        <p:spPr>
          <a:xfrm>
            <a:off x="1074471" y="2403523"/>
            <a:ext cx="7418366" cy="73866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Today, we will integrate the backend with a frontend to create a fully functional AI assistant. By the end of the day, you will have a working application ready for real-world use.</a:t>
            </a:r>
            <a:endParaRPr lang="en-US" sz="1600" dirty="0"/>
          </a:p>
        </p:txBody>
      </p:sp>
      <p:sp>
        <p:nvSpPr>
          <p:cNvPr id="37" name="Text 33"/>
          <p:cNvSpPr/>
          <p:nvPr/>
        </p:nvSpPr>
        <p:spPr>
          <a:xfrm>
            <a:off x="1280416" y="3667751"/>
            <a:ext cx="7871257" cy="6771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Topics</a:t>
            </a:r>
            <a:endParaRPr lang="en-US" sz="1600" dirty="0"/>
          </a:p>
        </p:txBody>
      </p:sp>
      <p:sp>
        <p:nvSpPr>
          <p:cNvPr id="38" name="Text 34"/>
          <p:cNvSpPr/>
          <p:nvPr/>
        </p:nvSpPr>
        <p:spPr>
          <a:xfrm>
            <a:off x="1136772" y="4107808"/>
            <a:ext cx="8018136" cy="73866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We will cover backend recap, frontend setup, full application integration, and prepare for deployment. Each step builds on what we learned in the previous days.</a:t>
            </a:r>
            <a:endParaRPr lang="en-US" sz="1600" dirty="0"/>
          </a:p>
        </p:txBody>
      </p:sp>
      <p:sp>
        <p:nvSpPr>
          <p:cNvPr id="39" name="Text 35"/>
          <p:cNvSpPr/>
          <p:nvPr/>
        </p:nvSpPr>
        <p:spPr>
          <a:xfrm>
            <a:off x="1219651" y="5304957"/>
            <a:ext cx="7273186" cy="6771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Outcome</a:t>
            </a:r>
            <a:endParaRPr lang="en-US" sz="1600" dirty="0"/>
          </a:p>
        </p:txBody>
      </p:sp>
      <p:sp>
        <p:nvSpPr>
          <p:cNvPr id="40" name="Text 36"/>
          <p:cNvSpPr/>
          <p:nvPr/>
        </p:nvSpPr>
        <p:spPr>
          <a:xfrm>
            <a:off x="1059579" y="5776606"/>
            <a:ext cx="7433258" cy="73866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By the end of this session, you will have a complete AI assistant with a user-friendly interface, ready for deployment and further enhancements.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gradFill flip="none" rotWithShape="0">
          <a:gsLst>
            <a:gs pos="0">
              <a:srgbClr val="D8E1FD"/>
            </a:gs>
            <a:gs pos="0">
              <a:srgbClr val="C7D5FC"/>
            </a:gs>
            <a:gs pos="5000">
              <a:srgbClr val="FFF2C6"/>
            </a:gs>
            <a:gs pos="92000">
              <a:srgbClr val="C7D5FC"/>
            </a:gs>
            <a:gs pos="100000">
              <a:srgbClr val="C7D5FC"/>
            </a:gs>
          </a:gsLst>
          <a:path path="circle">
            <a:fillToRect l="100000" t="100000"/>
          </a:path>
          <a:tileRect r="-100000" b="-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0066" y="4265463"/>
            <a:ext cx="228803" cy="212992"/>
          </a:xfrm>
          <a:prstGeom prst="ellipse">
            <a:avLst/>
          </a:prstGeom>
          <a:solidFill>
            <a:srgbClr val="000000">
              <a:alpha val="0"/>
            </a:srgbClr>
          </a:solidFill>
          <a:ln w="41275">
            <a:solidFill>
              <a:srgbClr val="FFF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0066" y="4265463"/>
            <a:ext cx="228803" cy="212992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26465" y="4306001"/>
            <a:ext cx="137562" cy="131914"/>
          </a:xfrm>
          <a:prstGeom prst="ellipse">
            <a:avLst/>
          </a:prstGeom>
          <a:solidFill>
            <a:srgbClr val="C1CEF6"/>
          </a:solidFill>
          <a:ln/>
        </p:spPr>
      </p:sp>
      <p:sp>
        <p:nvSpPr>
          <p:cNvPr id="5" name="Text 3"/>
          <p:cNvSpPr/>
          <p:nvPr/>
        </p:nvSpPr>
        <p:spPr>
          <a:xfrm>
            <a:off x="526465" y="4306001"/>
            <a:ext cx="137562" cy="13191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16682" y="42947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616682" y="42947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16707" y="42947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816707" y="42947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016732" y="42947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016732" y="42947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1216757" y="42947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1216757" y="42947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13320" y="116999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413320" y="116999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13320" y="969973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413320" y="969973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13320" y="76994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413320" y="76994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413320" y="56992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413320" y="56992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700405" y="636270"/>
            <a:ext cx="4902835" cy="191325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just">
              <a:lnSpc>
                <a:spcPct val="100000"/>
              </a:lnSpc>
            </a:pPr>
            <a:r>
              <a:rPr lang="en-US" sz="28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Backend Milestone Review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821458" y="397606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Text 22"/>
          <p:cNvSpPr/>
          <p:nvPr/>
        </p:nvSpPr>
        <p:spPr>
          <a:xfrm>
            <a:off x="1821458" y="397606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2021483" y="397606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Text 24"/>
          <p:cNvSpPr/>
          <p:nvPr/>
        </p:nvSpPr>
        <p:spPr>
          <a:xfrm>
            <a:off x="2021483" y="397606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2221508" y="397606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8" name="Text 26"/>
          <p:cNvSpPr/>
          <p:nvPr/>
        </p:nvSpPr>
        <p:spPr>
          <a:xfrm>
            <a:off x="2221508" y="397606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2421533" y="397606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2421533" y="397606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969006" y="397606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2" name="Text 30"/>
          <p:cNvSpPr/>
          <p:nvPr/>
        </p:nvSpPr>
        <p:spPr>
          <a:xfrm>
            <a:off x="969006" y="397606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3" name="Shape 31"/>
          <p:cNvSpPr/>
          <p:nvPr/>
        </p:nvSpPr>
        <p:spPr>
          <a:xfrm>
            <a:off x="1169031" y="397606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1169031" y="397606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5" name="Shape 33"/>
          <p:cNvSpPr/>
          <p:nvPr/>
        </p:nvSpPr>
        <p:spPr>
          <a:xfrm>
            <a:off x="1369056" y="397606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6" name="Text 34"/>
          <p:cNvSpPr/>
          <p:nvPr/>
        </p:nvSpPr>
        <p:spPr>
          <a:xfrm>
            <a:off x="1369056" y="397606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1569081" y="397606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8" name="Text 36"/>
          <p:cNvSpPr/>
          <p:nvPr/>
        </p:nvSpPr>
        <p:spPr>
          <a:xfrm>
            <a:off x="1569081" y="397606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9" name="Shape 37"/>
          <p:cNvSpPr/>
          <p:nvPr/>
        </p:nvSpPr>
        <p:spPr>
          <a:xfrm>
            <a:off x="3537490" y="397606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0" name="Text 38"/>
          <p:cNvSpPr/>
          <p:nvPr/>
        </p:nvSpPr>
        <p:spPr>
          <a:xfrm>
            <a:off x="3537490" y="397606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737515" y="397606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2" name="Text 40"/>
          <p:cNvSpPr/>
          <p:nvPr/>
        </p:nvSpPr>
        <p:spPr>
          <a:xfrm>
            <a:off x="3737515" y="397606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3937540" y="397606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3937540" y="397606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5" name="Shape 43"/>
          <p:cNvSpPr/>
          <p:nvPr/>
        </p:nvSpPr>
        <p:spPr>
          <a:xfrm>
            <a:off x="4137565" y="397606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6" name="Text 44"/>
          <p:cNvSpPr/>
          <p:nvPr/>
        </p:nvSpPr>
        <p:spPr>
          <a:xfrm>
            <a:off x="4137565" y="397606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2685038" y="397606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8" name="Text 46"/>
          <p:cNvSpPr/>
          <p:nvPr/>
        </p:nvSpPr>
        <p:spPr>
          <a:xfrm>
            <a:off x="2685038" y="397606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9" name="Shape 47"/>
          <p:cNvSpPr/>
          <p:nvPr/>
        </p:nvSpPr>
        <p:spPr>
          <a:xfrm>
            <a:off x="2885063" y="397606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0" name="Text 48"/>
          <p:cNvSpPr/>
          <p:nvPr/>
        </p:nvSpPr>
        <p:spPr>
          <a:xfrm>
            <a:off x="2885063" y="397606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1" name="Shape 49"/>
          <p:cNvSpPr/>
          <p:nvPr/>
        </p:nvSpPr>
        <p:spPr>
          <a:xfrm>
            <a:off x="3085088" y="397606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2" name="Text 50"/>
          <p:cNvSpPr/>
          <p:nvPr/>
        </p:nvSpPr>
        <p:spPr>
          <a:xfrm>
            <a:off x="3085088" y="397606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3285113" y="397606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4" name="Text 52"/>
          <p:cNvSpPr/>
          <p:nvPr/>
        </p:nvSpPr>
        <p:spPr>
          <a:xfrm>
            <a:off x="3285113" y="397606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5" name="Shape 53"/>
          <p:cNvSpPr/>
          <p:nvPr/>
        </p:nvSpPr>
        <p:spPr>
          <a:xfrm>
            <a:off x="5246952" y="397606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6" name="Text 54"/>
          <p:cNvSpPr/>
          <p:nvPr/>
        </p:nvSpPr>
        <p:spPr>
          <a:xfrm>
            <a:off x="5246952" y="397606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7" name="Shape 55"/>
          <p:cNvSpPr/>
          <p:nvPr/>
        </p:nvSpPr>
        <p:spPr>
          <a:xfrm>
            <a:off x="5446977" y="397606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8" name="Text 56"/>
          <p:cNvSpPr/>
          <p:nvPr/>
        </p:nvSpPr>
        <p:spPr>
          <a:xfrm>
            <a:off x="5446977" y="397606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9" name="Shape 57"/>
          <p:cNvSpPr/>
          <p:nvPr/>
        </p:nvSpPr>
        <p:spPr>
          <a:xfrm>
            <a:off x="5647002" y="397606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0" name="Text 58"/>
          <p:cNvSpPr/>
          <p:nvPr/>
        </p:nvSpPr>
        <p:spPr>
          <a:xfrm>
            <a:off x="5647002" y="397606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1" name="Shape 59"/>
          <p:cNvSpPr/>
          <p:nvPr/>
        </p:nvSpPr>
        <p:spPr>
          <a:xfrm>
            <a:off x="5847027" y="397606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2" name="Text 60"/>
          <p:cNvSpPr/>
          <p:nvPr/>
        </p:nvSpPr>
        <p:spPr>
          <a:xfrm>
            <a:off x="5847027" y="397606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3" name="Shape 61"/>
          <p:cNvSpPr/>
          <p:nvPr/>
        </p:nvSpPr>
        <p:spPr>
          <a:xfrm>
            <a:off x="4394500" y="397606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4" name="Text 62"/>
          <p:cNvSpPr/>
          <p:nvPr/>
        </p:nvSpPr>
        <p:spPr>
          <a:xfrm>
            <a:off x="4394500" y="397606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4594525" y="397606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6" name="Text 64"/>
          <p:cNvSpPr/>
          <p:nvPr/>
        </p:nvSpPr>
        <p:spPr>
          <a:xfrm>
            <a:off x="4594525" y="397606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7" name="Shape 65"/>
          <p:cNvSpPr/>
          <p:nvPr/>
        </p:nvSpPr>
        <p:spPr>
          <a:xfrm>
            <a:off x="4794550" y="397606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8" name="Text 66"/>
          <p:cNvSpPr/>
          <p:nvPr/>
        </p:nvSpPr>
        <p:spPr>
          <a:xfrm>
            <a:off x="4794550" y="397606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9" name="Shape 67"/>
          <p:cNvSpPr/>
          <p:nvPr/>
        </p:nvSpPr>
        <p:spPr>
          <a:xfrm>
            <a:off x="4994575" y="397606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0" name="Text 68"/>
          <p:cNvSpPr/>
          <p:nvPr/>
        </p:nvSpPr>
        <p:spPr>
          <a:xfrm>
            <a:off x="4994575" y="397606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6962984" y="397606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2" name="Text 70"/>
          <p:cNvSpPr/>
          <p:nvPr/>
        </p:nvSpPr>
        <p:spPr>
          <a:xfrm>
            <a:off x="6962984" y="397606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3" name="Shape 71"/>
          <p:cNvSpPr/>
          <p:nvPr/>
        </p:nvSpPr>
        <p:spPr>
          <a:xfrm>
            <a:off x="7163009" y="397606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4" name="Text 72"/>
          <p:cNvSpPr/>
          <p:nvPr/>
        </p:nvSpPr>
        <p:spPr>
          <a:xfrm>
            <a:off x="7163009" y="397606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7363034" y="397606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6" name="Text 74"/>
          <p:cNvSpPr/>
          <p:nvPr/>
        </p:nvSpPr>
        <p:spPr>
          <a:xfrm>
            <a:off x="7363034" y="397606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7563059" y="397606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8" name="Text 76"/>
          <p:cNvSpPr/>
          <p:nvPr/>
        </p:nvSpPr>
        <p:spPr>
          <a:xfrm>
            <a:off x="7563059" y="397606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9" name="Shape 77"/>
          <p:cNvSpPr/>
          <p:nvPr/>
        </p:nvSpPr>
        <p:spPr>
          <a:xfrm>
            <a:off x="6110532" y="397606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0" name="Text 78"/>
          <p:cNvSpPr/>
          <p:nvPr/>
        </p:nvSpPr>
        <p:spPr>
          <a:xfrm>
            <a:off x="6110532" y="397606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1" name="Shape 79"/>
          <p:cNvSpPr/>
          <p:nvPr/>
        </p:nvSpPr>
        <p:spPr>
          <a:xfrm>
            <a:off x="6310557" y="397606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2" name="Text 80"/>
          <p:cNvSpPr/>
          <p:nvPr/>
        </p:nvSpPr>
        <p:spPr>
          <a:xfrm>
            <a:off x="6310557" y="397606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3" name="Shape 81"/>
          <p:cNvSpPr/>
          <p:nvPr/>
        </p:nvSpPr>
        <p:spPr>
          <a:xfrm>
            <a:off x="6510582" y="397606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4" name="Text 82"/>
          <p:cNvSpPr/>
          <p:nvPr/>
        </p:nvSpPr>
        <p:spPr>
          <a:xfrm>
            <a:off x="6510582" y="397606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5" name="Shape 83"/>
          <p:cNvSpPr/>
          <p:nvPr/>
        </p:nvSpPr>
        <p:spPr>
          <a:xfrm>
            <a:off x="6710607" y="397606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6" name="Text 84"/>
          <p:cNvSpPr/>
          <p:nvPr/>
        </p:nvSpPr>
        <p:spPr>
          <a:xfrm>
            <a:off x="6710607" y="397606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7" name="Shape 85"/>
          <p:cNvSpPr/>
          <p:nvPr/>
        </p:nvSpPr>
        <p:spPr>
          <a:xfrm>
            <a:off x="8615537" y="398126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8" name="Text 86"/>
          <p:cNvSpPr/>
          <p:nvPr/>
        </p:nvSpPr>
        <p:spPr>
          <a:xfrm>
            <a:off x="8615537" y="398126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9" name="Shape 87"/>
          <p:cNvSpPr/>
          <p:nvPr/>
        </p:nvSpPr>
        <p:spPr>
          <a:xfrm>
            <a:off x="8815562" y="398126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0" name="Text 88"/>
          <p:cNvSpPr/>
          <p:nvPr/>
        </p:nvSpPr>
        <p:spPr>
          <a:xfrm>
            <a:off x="8815562" y="398126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1" name="Shape 89"/>
          <p:cNvSpPr/>
          <p:nvPr/>
        </p:nvSpPr>
        <p:spPr>
          <a:xfrm>
            <a:off x="9015587" y="398126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2" name="Text 90"/>
          <p:cNvSpPr/>
          <p:nvPr/>
        </p:nvSpPr>
        <p:spPr>
          <a:xfrm>
            <a:off x="9015587" y="398126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3" name="Shape 91"/>
          <p:cNvSpPr/>
          <p:nvPr/>
        </p:nvSpPr>
        <p:spPr>
          <a:xfrm>
            <a:off x="9215612" y="398126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4" name="Text 92"/>
          <p:cNvSpPr/>
          <p:nvPr/>
        </p:nvSpPr>
        <p:spPr>
          <a:xfrm>
            <a:off x="9215612" y="398126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5" name="Shape 93"/>
          <p:cNvSpPr/>
          <p:nvPr/>
        </p:nvSpPr>
        <p:spPr>
          <a:xfrm>
            <a:off x="7763085" y="398126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6" name="Text 94"/>
          <p:cNvSpPr/>
          <p:nvPr/>
        </p:nvSpPr>
        <p:spPr>
          <a:xfrm>
            <a:off x="7763085" y="398126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7" name="Shape 95"/>
          <p:cNvSpPr/>
          <p:nvPr/>
        </p:nvSpPr>
        <p:spPr>
          <a:xfrm>
            <a:off x="7963110" y="398126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8" name="Text 96"/>
          <p:cNvSpPr/>
          <p:nvPr/>
        </p:nvSpPr>
        <p:spPr>
          <a:xfrm>
            <a:off x="7963110" y="398126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9" name="Shape 97"/>
          <p:cNvSpPr/>
          <p:nvPr/>
        </p:nvSpPr>
        <p:spPr>
          <a:xfrm>
            <a:off x="8163135" y="398126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0" name="Text 98"/>
          <p:cNvSpPr/>
          <p:nvPr/>
        </p:nvSpPr>
        <p:spPr>
          <a:xfrm>
            <a:off x="8163135" y="398126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1" name="Shape 99"/>
          <p:cNvSpPr/>
          <p:nvPr/>
        </p:nvSpPr>
        <p:spPr>
          <a:xfrm>
            <a:off x="8363160" y="398126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2" name="Text 100"/>
          <p:cNvSpPr/>
          <p:nvPr/>
        </p:nvSpPr>
        <p:spPr>
          <a:xfrm>
            <a:off x="8363160" y="398126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3" name="Shape 101"/>
          <p:cNvSpPr/>
          <p:nvPr/>
        </p:nvSpPr>
        <p:spPr>
          <a:xfrm>
            <a:off x="10331569" y="398126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4" name="Text 102"/>
          <p:cNvSpPr/>
          <p:nvPr/>
        </p:nvSpPr>
        <p:spPr>
          <a:xfrm>
            <a:off x="10331569" y="398126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5" name="Shape 103"/>
          <p:cNvSpPr/>
          <p:nvPr/>
        </p:nvSpPr>
        <p:spPr>
          <a:xfrm>
            <a:off x="10531594" y="398126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6" name="Text 104"/>
          <p:cNvSpPr/>
          <p:nvPr/>
        </p:nvSpPr>
        <p:spPr>
          <a:xfrm>
            <a:off x="10531594" y="398126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7" name="Shape 105"/>
          <p:cNvSpPr/>
          <p:nvPr/>
        </p:nvSpPr>
        <p:spPr>
          <a:xfrm>
            <a:off x="10731619" y="398126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8" name="Text 106"/>
          <p:cNvSpPr/>
          <p:nvPr/>
        </p:nvSpPr>
        <p:spPr>
          <a:xfrm>
            <a:off x="10731619" y="398126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9" name="Shape 107"/>
          <p:cNvSpPr/>
          <p:nvPr/>
        </p:nvSpPr>
        <p:spPr>
          <a:xfrm>
            <a:off x="10931644" y="398126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0" name="Text 108"/>
          <p:cNvSpPr/>
          <p:nvPr/>
        </p:nvSpPr>
        <p:spPr>
          <a:xfrm>
            <a:off x="10931644" y="398126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1" name="Shape 109"/>
          <p:cNvSpPr/>
          <p:nvPr/>
        </p:nvSpPr>
        <p:spPr>
          <a:xfrm>
            <a:off x="9479117" y="398126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2" name="Text 110"/>
          <p:cNvSpPr/>
          <p:nvPr/>
        </p:nvSpPr>
        <p:spPr>
          <a:xfrm>
            <a:off x="9479117" y="398126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3" name="Shape 111"/>
          <p:cNvSpPr/>
          <p:nvPr/>
        </p:nvSpPr>
        <p:spPr>
          <a:xfrm>
            <a:off x="9679142" y="398126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4" name="Text 112"/>
          <p:cNvSpPr/>
          <p:nvPr/>
        </p:nvSpPr>
        <p:spPr>
          <a:xfrm>
            <a:off x="9679142" y="398126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5" name="Shape 113"/>
          <p:cNvSpPr/>
          <p:nvPr/>
        </p:nvSpPr>
        <p:spPr>
          <a:xfrm>
            <a:off x="9879167" y="398126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6" name="Text 114"/>
          <p:cNvSpPr/>
          <p:nvPr/>
        </p:nvSpPr>
        <p:spPr>
          <a:xfrm>
            <a:off x="9879167" y="398126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7" name="Shape 115"/>
          <p:cNvSpPr/>
          <p:nvPr/>
        </p:nvSpPr>
        <p:spPr>
          <a:xfrm>
            <a:off x="10079192" y="398126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8" name="Text 116"/>
          <p:cNvSpPr/>
          <p:nvPr/>
        </p:nvSpPr>
        <p:spPr>
          <a:xfrm>
            <a:off x="10079192" y="398126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119" name="Image 0" descr="https://kimi-img.moonshot.cn/pub/slides/slides_tmpl/image/25-08-27-20:04:41-d2nf8m98bjvh7rlj0ajg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-490949"/>
            <a:ext cx="5145200" cy="4421711"/>
          </a:xfrm>
          <a:prstGeom prst="rect">
            <a:avLst/>
          </a:prstGeom>
        </p:spPr>
      </p:pic>
      <p:pic>
        <p:nvPicPr>
          <p:cNvPr id="120" name="Image 1" descr="https://kimi-img.moonshot.cn/pub/slides/slides_tmpl/image/25-08-27-20:04:41-d2nf8m98bjvh7rlj0akg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707" y="1848849"/>
            <a:ext cx="4769518" cy="2081664"/>
          </a:xfrm>
          <a:prstGeom prst="rect">
            <a:avLst/>
          </a:prstGeom>
        </p:spPr>
      </p:pic>
      <p:sp>
        <p:nvSpPr>
          <p:cNvPr id="121" name="Shape 117"/>
          <p:cNvSpPr/>
          <p:nvPr/>
        </p:nvSpPr>
        <p:spPr>
          <a:xfrm>
            <a:off x="436451" y="5540041"/>
            <a:ext cx="228803" cy="212992"/>
          </a:xfrm>
          <a:prstGeom prst="ellipse">
            <a:avLst/>
          </a:prstGeom>
          <a:solidFill>
            <a:srgbClr val="000000">
              <a:alpha val="0"/>
            </a:srgbClr>
          </a:solidFill>
          <a:ln w="41275">
            <a:solidFill>
              <a:srgbClr val="FFFFFF"/>
            </a:solidFill>
            <a:prstDash val="solid"/>
          </a:ln>
        </p:spPr>
      </p:sp>
      <p:sp>
        <p:nvSpPr>
          <p:cNvPr id="122" name="Text 118"/>
          <p:cNvSpPr/>
          <p:nvPr/>
        </p:nvSpPr>
        <p:spPr>
          <a:xfrm>
            <a:off x="436451" y="5540041"/>
            <a:ext cx="228803" cy="212992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3" name="Shape 119"/>
          <p:cNvSpPr/>
          <p:nvPr/>
        </p:nvSpPr>
        <p:spPr>
          <a:xfrm>
            <a:off x="512850" y="5580579"/>
            <a:ext cx="137562" cy="131914"/>
          </a:xfrm>
          <a:prstGeom prst="ellipse">
            <a:avLst/>
          </a:prstGeom>
          <a:solidFill>
            <a:srgbClr val="C1CEF6"/>
          </a:solidFill>
          <a:ln/>
        </p:spPr>
      </p:sp>
      <p:sp>
        <p:nvSpPr>
          <p:cNvPr id="124" name="Text 120"/>
          <p:cNvSpPr/>
          <p:nvPr/>
        </p:nvSpPr>
        <p:spPr>
          <a:xfrm>
            <a:off x="512850" y="5580579"/>
            <a:ext cx="137562" cy="13191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5" name="Text 121"/>
          <p:cNvSpPr/>
          <p:nvPr/>
        </p:nvSpPr>
        <p:spPr>
          <a:xfrm>
            <a:off x="749935" y="4203065"/>
            <a:ext cx="9714865" cy="675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RAG Recap</a:t>
            </a:r>
            <a:endParaRPr lang="en-US" sz="1600" dirty="0"/>
          </a:p>
        </p:txBody>
      </p:sp>
      <p:sp>
        <p:nvSpPr>
          <p:cNvPr id="126" name="Text 122"/>
          <p:cNvSpPr/>
          <p:nvPr/>
        </p:nvSpPr>
        <p:spPr>
          <a:xfrm>
            <a:off x="817245" y="4526280"/>
            <a:ext cx="11090910" cy="84518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Recap of Retrieval-Augmented Generation: we retrieve relevant chunks from the vector store and feed them into the LLM to generate accurate answers.</a:t>
            </a:r>
            <a:endParaRPr lang="en-US" sz="1600" dirty="0"/>
          </a:p>
        </p:txBody>
      </p:sp>
      <p:sp>
        <p:nvSpPr>
          <p:cNvPr id="127" name="Text 123"/>
          <p:cNvSpPr/>
          <p:nvPr/>
        </p:nvSpPr>
        <p:spPr>
          <a:xfrm>
            <a:off x="736600" y="5539740"/>
            <a:ext cx="9714865" cy="5397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just">
              <a:lnSpc>
                <a:spcPct val="100000"/>
              </a:lnSpc>
            </a:pPr>
            <a:r>
              <a:rPr lang="en-US" sz="18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Tools &amp; Agents</a:t>
            </a:r>
            <a:endParaRPr lang="en-US" sz="1600" dirty="0"/>
          </a:p>
        </p:txBody>
      </p:sp>
      <p:sp>
        <p:nvSpPr>
          <p:cNvPr id="128" name="Text 124"/>
          <p:cNvSpPr/>
          <p:nvPr/>
        </p:nvSpPr>
        <p:spPr>
          <a:xfrm>
            <a:off x="829310" y="5834380"/>
            <a:ext cx="11090275" cy="82994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Review of tools for extending AI functionality and agents for multi-step reasoning. These components form the backbone of our AI assistant.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gradFill flip="none" rotWithShape="0">
          <a:gsLst>
            <a:gs pos="0">
              <a:srgbClr val="FFF2C6"/>
            </a:gs>
            <a:gs pos="47000">
              <a:srgbClr val="D8E1FD"/>
            </a:gs>
            <a:gs pos="78000">
              <a:srgbClr val="C7D5FC"/>
            </a:gs>
            <a:gs pos="100000">
              <a:srgbClr val="FDF8CB"/>
            </a:gs>
          </a:gsLst>
          <a:lin ang="2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4:38-d2nf8lh8bjvh7rlj0ae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8399" y="517692"/>
            <a:ext cx="7251700" cy="63403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48502" y="2308860"/>
            <a:ext cx="4599086" cy="39395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5000" dirty="0">
                <a:solidFill>
                  <a:srgbClr val="7F9CD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02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97560" y="1932305"/>
            <a:ext cx="10755630" cy="11988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6D7A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Frontend Blueprint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31049" y="85600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731049" y="85600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931074" y="85600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931074" y="85600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131099" y="85600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1131099" y="85600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331124" y="85600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1331124" y="85600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27687" y="1596530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527687" y="1596530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27687" y="139650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527687" y="139650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27687" y="1196479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527687" y="1196479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27687" y="99645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7"/>
          <p:cNvSpPr/>
          <p:nvPr/>
        </p:nvSpPr>
        <p:spPr>
          <a:xfrm>
            <a:off x="527687" y="99645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21" name="Image 1" descr="https://kimi-img.moonshot.cn/pub/slides/slides_tmpl/image/25-08-27-20:04:34-d2nf8kh8bjvh7rlj0a80.png"/>
          <p:cNvPicPr>
            <a:picLocks noChangeAspect="1"/>
          </p:cNvPicPr>
          <p:nvPr/>
        </p:nvPicPr>
        <p:blipFill>
          <a:blip r:embed="rId4">
            <a:alphaModFix amt="59000"/>
          </a:blip>
          <a:stretch>
            <a:fillRect/>
          </a:stretch>
        </p:blipFill>
        <p:spPr>
          <a:xfrm>
            <a:off x="5131435" y="330200"/>
            <a:ext cx="7048500" cy="6197600"/>
          </a:xfrm>
          <a:prstGeom prst="rect">
            <a:avLst/>
          </a:prstGeom>
        </p:spPr>
      </p:pic>
      <p:pic>
        <p:nvPicPr>
          <p:cNvPr id="22" name="Image 2" descr="https://kimi-img.moonshot.cn/pub/slides/slides_tmpl/image/25-08-27-20:04:33-d2nf8k98bjvh7rlj0a7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797300"/>
            <a:ext cx="5143500" cy="3060700"/>
          </a:xfrm>
          <a:prstGeom prst="rect">
            <a:avLst/>
          </a:prstGeom>
        </p:spPr>
      </p:pic>
      <p:pic>
        <p:nvPicPr>
          <p:cNvPr id="23" name="Image 3" descr="https://kimi-img.moonshot.cn/pub/slides/slides_tmpl/image/25-08-27-20:04:32-d2nf8k18bjvh7rlj0a5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445" y="4587240"/>
            <a:ext cx="152400" cy="1524000"/>
          </a:xfrm>
          <a:prstGeom prst="rect">
            <a:avLst/>
          </a:prstGeom>
        </p:spPr>
      </p:pic>
      <p:pic>
        <p:nvPicPr>
          <p:cNvPr id="24" name="Image 4" descr="https://kimi-img.moonshot.cn/pub/slides/slides_tmpl/image/25-08-27-20:04:32-d2nf8k18bjvh7rlj0a6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11275" y="3907257"/>
            <a:ext cx="1320800" cy="1371600"/>
          </a:xfrm>
          <a:prstGeom prst="rect">
            <a:avLst/>
          </a:prstGeom>
        </p:spPr>
      </p:pic>
      <p:pic>
        <p:nvPicPr>
          <p:cNvPr id="25" name="Image 5" descr="https://kimi-img.moonshot.cn/pub/slides/slides_tmpl/image/25-08-27-20:04:32-d2nf8k18bjvh7rlj0a6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70172" y="1111250"/>
            <a:ext cx="983056" cy="907962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1101725" y="3958057"/>
            <a:ext cx="539750" cy="508001"/>
          </a:xfrm>
          <a:prstGeom prst="ellipse">
            <a:avLst/>
          </a:prstGeom>
          <a:solidFill>
            <a:srgbClr val="B2C4FF"/>
          </a:solidFill>
          <a:ln/>
        </p:spPr>
      </p:sp>
      <p:sp>
        <p:nvSpPr>
          <p:cNvPr id="27" name="Text 19"/>
          <p:cNvSpPr/>
          <p:nvPr/>
        </p:nvSpPr>
        <p:spPr>
          <a:xfrm>
            <a:off x="1101725" y="3958057"/>
            <a:ext cx="539750" cy="50800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28" name="Image 6" descr="https://kimi-img.moonshot.cn/pub/slides/slides_tmpl/image/25-08-27-20:04:32-d2nf8k18bjvh7rlj0a6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87651" y="1515914"/>
            <a:ext cx="731154" cy="67603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gradFill flip="none" rotWithShape="0">
          <a:gsLst>
            <a:gs pos="0">
              <a:srgbClr val="D8E1FD"/>
            </a:gs>
            <a:gs pos="14000">
              <a:srgbClr val="C7D5FC"/>
            </a:gs>
            <a:gs pos="44000">
              <a:srgbClr val="FFF8DF"/>
            </a:gs>
            <a:gs pos="100000">
              <a:srgbClr val="D8E1FD"/>
            </a:gs>
          </a:gsLst>
          <a:lin ang="30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833" y="46536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7315833" y="46536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515858" y="46536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7515858" y="46536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715883" y="46536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7715883" y="46536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915908" y="46536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7915908" y="46536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108189" y="119879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7108189" y="119879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108189" y="99876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7108189" y="99876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108189" y="798743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7108189" y="798743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108189" y="598719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108189" y="598719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364095" y="681990"/>
            <a:ext cx="3831590" cy="195008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just">
              <a:lnSpc>
                <a:spcPct val="100000"/>
              </a:lnSpc>
            </a:pPr>
            <a:r>
              <a:rPr lang="en-US" sz="24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Minimal Web Stack Choice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3281620" y="2525339"/>
            <a:ext cx="200024" cy="212992"/>
          </a:xfrm>
          <a:prstGeom prst="ellipse">
            <a:avLst/>
          </a:prstGeom>
          <a:solidFill>
            <a:srgbClr val="000000">
              <a:alpha val="0"/>
            </a:srgbClr>
          </a:solidFill>
          <a:ln w="41275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81620" y="2525339"/>
            <a:ext cx="200024" cy="212992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348410" y="2565877"/>
            <a:ext cx="120259" cy="131914"/>
          </a:xfrm>
          <a:prstGeom prst="ellipse">
            <a:avLst/>
          </a:prstGeom>
          <a:solidFill>
            <a:srgbClr val="C1CEF6"/>
          </a:solidFill>
          <a:ln/>
        </p:spPr>
      </p:sp>
      <p:sp>
        <p:nvSpPr>
          <p:cNvPr id="22" name="Text 20"/>
          <p:cNvSpPr/>
          <p:nvPr/>
        </p:nvSpPr>
        <p:spPr>
          <a:xfrm>
            <a:off x="3348410" y="2565877"/>
            <a:ext cx="120259" cy="13191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435389" y="2522765"/>
            <a:ext cx="228803" cy="212992"/>
          </a:xfrm>
          <a:prstGeom prst="ellipse">
            <a:avLst/>
          </a:prstGeom>
          <a:solidFill>
            <a:srgbClr val="000000">
              <a:alpha val="0"/>
            </a:srgbClr>
          </a:solidFill>
          <a:ln w="41275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35389" y="2522765"/>
            <a:ext cx="228803" cy="212992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7511788" y="2563303"/>
            <a:ext cx="137562" cy="131914"/>
          </a:xfrm>
          <a:prstGeom prst="ellipse">
            <a:avLst/>
          </a:prstGeom>
          <a:solidFill>
            <a:srgbClr val="C1CEF6"/>
          </a:solidFill>
          <a:ln/>
        </p:spPr>
      </p:sp>
      <p:sp>
        <p:nvSpPr>
          <p:cNvPr id="26" name="Text 24"/>
          <p:cNvSpPr/>
          <p:nvPr/>
        </p:nvSpPr>
        <p:spPr>
          <a:xfrm>
            <a:off x="7511788" y="2563303"/>
            <a:ext cx="137562" cy="13191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27" name="Image 0" descr="https://kimi-img.moonshot.cn/pub/slides/slides_tmpl/image/25-08-27-20:04:46-d2nf8nh8bjvh7rlj0av0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41234" y="21455"/>
            <a:ext cx="3039979" cy="2192535"/>
          </a:xfrm>
          <a:prstGeom prst="rect">
            <a:avLst/>
          </a:prstGeom>
        </p:spPr>
      </p:pic>
      <p:pic>
        <p:nvPicPr>
          <p:cNvPr id="28" name="Image 1" descr="https://kimi-img.moonshot.cn/pub/slides/slides_tmpl/image/25-08-27-20:04:47-d2nf8np8bjvh7rlj0b00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2346909"/>
            <a:ext cx="3039978" cy="2060067"/>
          </a:xfrm>
          <a:prstGeom prst="rect">
            <a:avLst/>
          </a:prstGeom>
        </p:spPr>
      </p:pic>
      <p:pic>
        <p:nvPicPr>
          <p:cNvPr id="29" name="Image 2" descr="https://kimi-img.moonshot.cn/pub/slides/slides_tmpl/image/25-08-27-20:04:47-d2nf8np8bjvh7rlj0b10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9358" y="43920"/>
            <a:ext cx="3541163" cy="2192535"/>
          </a:xfrm>
          <a:prstGeom prst="rect">
            <a:avLst/>
          </a:prstGeom>
        </p:spPr>
      </p:pic>
      <p:sp>
        <p:nvSpPr>
          <p:cNvPr id="30" name="Shape 25"/>
          <p:cNvSpPr/>
          <p:nvPr/>
        </p:nvSpPr>
        <p:spPr>
          <a:xfrm>
            <a:off x="490795" y="4717359"/>
            <a:ext cx="200024" cy="212992"/>
          </a:xfrm>
          <a:prstGeom prst="ellipse">
            <a:avLst/>
          </a:prstGeom>
          <a:solidFill>
            <a:srgbClr val="000000">
              <a:alpha val="0"/>
            </a:srgbClr>
          </a:solidFill>
          <a:ln w="41275">
            <a:solidFill>
              <a:srgbClr val="FFFFFF"/>
            </a:solidFill>
            <a:prstDash val="solid"/>
          </a:ln>
        </p:spPr>
      </p:sp>
      <p:sp>
        <p:nvSpPr>
          <p:cNvPr id="31" name="Text 26"/>
          <p:cNvSpPr/>
          <p:nvPr/>
        </p:nvSpPr>
        <p:spPr>
          <a:xfrm>
            <a:off x="490795" y="4717359"/>
            <a:ext cx="200024" cy="212992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2" name="Shape 27"/>
          <p:cNvSpPr/>
          <p:nvPr/>
        </p:nvSpPr>
        <p:spPr>
          <a:xfrm>
            <a:off x="557585" y="4757897"/>
            <a:ext cx="120259" cy="131914"/>
          </a:xfrm>
          <a:prstGeom prst="ellipse">
            <a:avLst/>
          </a:prstGeom>
          <a:solidFill>
            <a:srgbClr val="C1CEF6"/>
          </a:solidFill>
          <a:ln/>
        </p:spPr>
      </p:sp>
      <p:sp>
        <p:nvSpPr>
          <p:cNvPr id="33" name="Text 28"/>
          <p:cNvSpPr/>
          <p:nvPr/>
        </p:nvSpPr>
        <p:spPr>
          <a:xfrm>
            <a:off x="557585" y="4757897"/>
            <a:ext cx="120259" cy="13191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4" name="Shape 29"/>
          <p:cNvSpPr/>
          <p:nvPr/>
        </p:nvSpPr>
        <p:spPr>
          <a:xfrm>
            <a:off x="6246034" y="4735740"/>
            <a:ext cx="228803" cy="212992"/>
          </a:xfrm>
          <a:prstGeom prst="ellipse">
            <a:avLst/>
          </a:prstGeom>
          <a:solidFill>
            <a:srgbClr val="000000">
              <a:alpha val="0"/>
            </a:srgbClr>
          </a:solidFill>
          <a:ln w="41275">
            <a:solidFill>
              <a:srgbClr val="FFFFFF"/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6246034" y="4735740"/>
            <a:ext cx="228803" cy="212992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6" name="Shape 31"/>
          <p:cNvSpPr/>
          <p:nvPr/>
        </p:nvSpPr>
        <p:spPr>
          <a:xfrm>
            <a:off x="6322433" y="4776278"/>
            <a:ext cx="137562" cy="131914"/>
          </a:xfrm>
          <a:prstGeom prst="ellipse">
            <a:avLst/>
          </a:prstGeom>
          <a:solidFill>
            <a:srgbClr val="C1CEF6"/>
          </a:solidFill>
          <a:ln/>
        </p:spPr>
      </p:sp>
      <p:sp>
        <p:nvSpPr>
          <p:cNvPr id="37" name="Text 32"/>
          <p:cNvSpPr/>
          <p:nvPr/>
        </p:nvSpPr>
        <p:spPr>
          <a:xfrm>
            <a:off x="6322433" y="4776278"/>
            <a:ext cx="137562" cy="13191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8" name="Text 33"/>
          <p:cNvSpPr/>
          <p:nvPr/>
        </p:nvSpPr>
        <p:spPr>
          <a:xfrm>
            <a:off x="3490595" y="2441575"/>
            <a:ext cx="3649980" cy="675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Flask for Simplicity</a:t>
            </a:r>
            <a:endParaRPr lang="en-US" sz="1600" dirty="0"/>
          </a:p>
        </p:txBody>
      </p:sp>
      <p:sp>
        <p:nvSpPr>
          <p:cNvPr id="39" name="Text 34"/>
          <p:cNvSpPr/>
          <p:nvPr/>
        </p:nvSpPr>
        <p:spPr>
          <a:xfrm>
            <a:off x="3509645" y="2930208"/>
            <a:ext cx="3696335" cy="13836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We choose Flask for its simplicity and ease of use. It allows us to quickly set up a web server with minimal configuration.</a:t>
            </a:r>
            <a:endParaRPr lang="en-US" sz="1600" dirty="0"/>
          </a:p>
        </p:txBody>
      </p:sp>
      <p:sp>
        <p:nvSpPr>
          <p:cNvPr id="40" name="Text 35"/>
          <p:cNvSpPr/>
          <p:nvPr/>
        </p:nvSpPr>
        <p:spPr>
          <a:xfrm>
            <a:off x="699770" y="4633595"/>
            <a:ext cx="4378325" cy="675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Single-File Server</a:t>
            </a:r>
            <a:endParaRPr lang="en-US" sz="1600" dirty="0"/>
          </a:p>
        </p:txBody>
      </p:sp>
      <p:sp>
        <p:nvSpPr>
          <p:cNvPr id="41" name="Text 36"/>
          <p:cNvSpPr/>
          <p:nvPr/>
        </p:nvSpPr>
        <p:spPr>
          <a:xfrm>
            <a:off x="718820" y="5039995"/>
            <a:ext cx="4378960" cy="1168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Flask enables a single-file server, making it easy to manage and deploy. It also supports Jinja templates for dynamic content rendering.</a:t>
            </a:r>
            <a:endParaRPr lang="en-US" sz="1600" dirty="0"/>
          </a:p>
        </p:txBody>
      </p:sp>
      <p:sp>
        <p:nvSpPr>
          <p:cNvPr id="42" name="Text 37"/>
          <p:cNvSpPr/>
          <p:nvPr/>
        </p:nvSpPr>
        <p:spPr>
          <a:xfrm>
            <a:off x="7723505" y="2443480"/>
            <a:ext cx="4273550" cy="675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Zero JavaScript Overhead</a:t>
            </a:r>
            <a:endParaRPr lang="en-US" sz="1600" dirty="0"/>
          </a:p>
        </p:txBody>
      </p:sp>
      <p:sp>
        <p:nvSpPr>
          <p:cNvPr id="43" name="Text 38"/>
          <p:cNvSpPr/>
          <p:nvPr/>
        </p:nvSpPr>
        <p:spPr>
          <a:xfrm>
            <a:off x="7734935" y="2929573"/>
            <a:ext cx="3825240" cy="13836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By using Flask, we avoid the complexity of JavaScript frameworks, focusing on a straightforward user interface that works out of the box.</a:t>
            </a:r>
            <a:endParaRPr lang="en-US" sz="1600" dirty="0"/>
          </a:p>
        </p:txBody>
      </p:sp>
      <p:sp>
        <p:nvSpPr>
          <p:cNvPr id="44" name="Text 39"/>
          <p:cNvSpPr/>
          <p:nvPr/>
        </p:nvSpPr>
        <p:spPr>
          <a:xfrm>
            <a:off x="6534150" y="4656455"/>
            <a:ext cx="5025390" cy="675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POST Routes for Queries</a:t>
            </a:r>
            <a:endParaRPr lang="en-US" sz="1600" dirty="0"/>
          </a:p>
        </p:txBody>
      </p:sp>
      <p:sp>
        <p:nvSpPr>
          <p:cNvPr id="45" name="Text 40"/>
          <p:cNvSpPr/>
          <p:nvPr/>
        </p:nvSpPr>
        <p:spPr>
          <a:xfrm>
            <a:off x="6534150" y="5039360"/>
            <a:ext cx="5026025" cy="11684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Flask allows us to define POST routes to handle user queries, making it easy to send data from the frontend to the backend and receive responses.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gradFill flip="none" rotWithShape="0">
          <a:gsLst>
            <a:gs pos="0">
              <a:srgbClr val="A9BAF4"/>
            </a:gs>
            <a:gs pos="32000">
              <a:srgbClr val="D8E1FD"/>
            </a:gs>
            <a:gs pos="42000">
              <a:srgbClr val="C7D5FC"/>
            </a:gs>
            <a:gs pos="63000">
              <a:srgbClr val="D8E1FD"/>
            </a:gs>
            <a:gs pos="98000">
              <a:srgbClr val="FFF2C6"/>
            </a:gs>
            <a:gs pos="100000">
              <a:srgbClr val="FFF2C6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04427" y="43794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904427" y="43794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1104452" y="43794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1104452" y="43794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304477" y="43794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304477" y="43794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504502" y="43794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504502" y="43794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01064" y="1178470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701064" y="1178470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01064" y="97844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701064" y="97844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701064" y="778419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701064" y="778419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01064" y="57839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701064" y="57839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969645" y="645795"/>
            <a:ext cx="10751820" cy="12065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en-US" sz="32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Request Life-Cycle Map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1037777" y="5206150"/>
            <a:ext cx="228803" cy="212992"/>
          </a:xfrm>
          <a:prstGeom prst="ellipse">
            <a:avLst/>
          </a:prstGeom>
          <a:solidFill>
            <a:srgbClr val="000000">
              <a:alpha val="0"/>
            </a:srgbClr>
          </a:solidFill>
          <a:ln w="41275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037777" y="5206150"/>
            <a:ext cx="228803" cy="212992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114176" y="5246688"/>
            <a:ext cx="137562" cy="131914"/>
          </a:xfrm>
          <a:prstGeom prst="ellipse">
            <a:avLst/>
          </a:prstGeom>
          <a:solidFill>
            <a:srgbClr val="C1CEF6"/>
          </a:solidFill>
          <a:ln/>
        </p:spPr>
      </p:sp>
      <p:sp>
        <p:nvSpPr>
          <p:cNvPr id="22" name="Text 20"/>
          <p:cNvSpPr/>
          <p:nvPr/>
        </p:nvSpPr>
        <p:spPr>
          <a:xfrm>
            <a:off x="1114176" y="5246688"/>
            <a:ext cx="137562" cy="13191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7439054" y="1979886"/>
            <a:ext cx="4282212" cy="2834620"/>
          </a:xfrm>
          <a:prstGeom prst="rect">
            <a:avLst/>
          </a:prstGeom>
          <a:solidFill>
            <a:srgbClr val="A4CCEE"/>
          </a:solidFill>
          <a:ln/>
        </p:spPr>
      </p:sp>
      <p:sp>
        <p:nvSpPr>
          <p:cNvPr id="24" name="Text 22"/>
          <p:cNvSpPr/>
          <p:nvPr/>
        </p:nvSpPr>
        <p:spPr>
          <a:xfrm>
            <a:off x="7439054" y="1979886"/>
            <a:ext cx="4282212" cy="283462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25" name="Image 0" descr="https://kimi-img.moonshot.cn/pub/slides/slides_tmpl/image/25-08-27-20:04:36-d2nf8l18bjvh7rlj0abg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9054" y="1957590"/>
            <a:ext cx="4282212" cy="2856916"/>
          </a:xfrm>
          <a:prstGeom prst="rect">
            <a:avLst/>
          </a:prstGeom>
        </p:spPr>
      </p:pic>
      <p:pic>
        <p:nvPicPr>
          <p:cNvPr id="26" name="Image 1" descr="https://kimi-img.moonshot.cn/pub/slides/slides_tmpl/image/25-08-27-20:04:36-d2nf8l18bjvh7rlj0acg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680" y="1959287"/>
            <a:ext cx="4225267" cy="2855218"/>
          </a:xfrm>
          <a:prstGeom prst="rect">
            <a:avLst/>
          </a:prstGeom>
        </p:spPr>
      </p:pic>
      <p:pic>
        <p:nvPicPr>
          <p:cNvPr id="27" name="Image 2" descr="https://kimi-img.moonshot.cn/pub/slides/slides_tmpl/image/25-08-27-20:04:36-d2nf8l18bjvh7rlj0ac0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3652" y="1957589"/>
            <a:ext cx="2238998" cy="2855218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1496633" y="5138838"/>
            <a:ext cx="9655733" cy="6771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Request Flow</a:t>
            </a:r>
            <a:endParaRPr lang="en-US" sz="1600" dirty="0"/>
          </a:p>
        </p:txBody>
      </p:sp>
      <p:sp>
        <p:nvSpPr>
          <p:cNvPr id="29" name="Text 24"/>
          <p:cNvSpPr/>
          <p:nvPr/>
        </p:nvSpPr>
        <p:spPr>
          <a:xfrm>
            <a:off x="1532890" y="5600700"/>
            <a:ext cx="9655810" cy="98171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User submits a query via the frontend, which sends a POST request to the backend. The backend processes the query using RAG and tools, then returns the response to the frontend for display.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gradFill flip="none" rotWithShape="0">
          <a:gsLst>
            <a:gs pos="0">
              <a:srgbClr val="FFF2C6"/>
            </a:gs>
            <a:gs pos="47000">
              <a:srgbClr val="D8E1FD"/>
            </a:gs>
            <a:gs pos="78000">
              <a:srgbClr val="C7D5FC"/>
            </a:gs>
            <a:gs pos="100000">
              <a:srgbClr val="FDF8CB"/>
            </a:gs>
          </a:gsLst>
          <a:lin ang="2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4:38-d2nf8lh8bjvh7rlj0ae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8399" y="517692"/>
            <a:ext cx="7251700" cy="63403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48502" y="2308860"/>
            <a:ext cx="4599086" cy="39395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5000" dirty="0">
                <a:solidFill>
                  <a:srgbClr val="7F9CD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03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97560" y="1932305"/>
            <a:ext cx="10755630" cy="11988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6D7A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Code &amp; Integration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31049" y="85600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731049" y="85600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931074" y="85600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931074" y="85600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131099" y="85600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1131099" y="85600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331124" y="85600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1331124" y="85600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27687" y="1596530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527687" y="1596530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27687" y="139650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527687" y="139650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27687" y="1196479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527687" y="1196479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27687" y="99645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7"/>
          <p:cNvSpPr/>
          <p:nvPr/>
        </p:nvSpPr>
        <p:spPr>
          <a:xfrm>
            <a:off x="527687" y="99645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21" name="Image 1" descr="https://kimi-img.moonshot.cn/pub/slides/slides_tmpl/image/25-08-27-20:04:34-d2nf8kh8bjvh7rlj0a80.png"/>
          <p:cNvPicPr>
            <a:picLocks noChangeAspect="1"/>
          </p:cNvPicPr>
          <p:nvPr/>
        </p:nvPicPr>
        <p:blipFill>
          <a:blip r:embed="rId4">
            <a:alphaModFix amt="59000"/>
          </a:blip>
          <a:stretch>
            <a:fillRect/>
          </a:stretch>
        </p:blipFill>
        <p:spPr>
          <a:xfrm>
            <a:off x="5131435" y="330200"/>
            <a:ext cx="7048500" cy="6197600"/>
          </a:xfrm>
          <a:prstGeom prst="rect">
            <a:avLst/>
          </a:prstGeom>
        </p:spPr>
      </p:pic>
      <p:pic>
        <p:nvPicPr>
          <p:cNvPr id="22" name="Image 2" descr="https://kimi-img.moonshot.cn/pub/slides/slides_tmpl/image/25-08-27-20:04:33-d2nf8k98bjvh7rlj0a7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797300"/>
            <a:ext cx="5143500" cy="3060700"/>
          </a:xfrm>
          <a:prstGeom prst="rect">
            <a:avLst/>
          </a:prstGeom>
        </p:spPr>
      </p:pic>
      <p:pic>
        <p:nvPicPr>
          <p:cNvPr id="23" name="Image 3" descr="https://kimi-img.moonshot.cn/pub/slides/slides_tmpl/image/25-08-27-20:04:32-d2nf8k18bjvh7rlj0a5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445" y="4587240"/>
            <a:ext cx="152400" cy="1524000"/>
          </a:xfrm>
          <a:prstGeom prst="rect">
            <a:avLst/>
          </a:prstGeom>
        </p:spPr>
      </p:pic>
      <p:pic>
        <p:nvPicPr>
          <p:cNvPr id="24" name="Image 4" descr="https://kimi-img.moonshot.cn/pub/slides/slides_tmpl/image/25-08-27-20:04:32-d2nf8k18bjvh7rlj0a6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11275" y="3907257"/>
            <a:ext cx="1320800" cy="1371600"/>
          </a:xfrm>
          <a:prstGeom prst="rect">
            <a:avLst/>
          </a:prstGeom>
        </p:spPr>
      </p:pic>
      <p:pic>
        <p:nvPicPr>
          <p:cNvPr id="25" name="Image 5" descr="https://kimi-img.moonshot.cn/pub/slides/slides_tmpl/image/25-08-27-20:04:32-d2nf8k18bjvh7rlj0a6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70172" y="1111250"/>
            <a:ext cx="983056" cy="907962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1101725" y="3958057"/>
            <a:ext cx="539750" cy="508001"/>
          </a:xfrm>
          <a:prstGeom prst="ellipse">
            <a:avLst/>
          </a:prstGeom>
          <a:solidFill>
            <a:srgbClr val="B2C4FF"/>
          </a:solidFill>
          <a:ln/>
        </p:spPr>
      </p:sp>
      <p:sp>
        <p:nvSpPr>
          <p:cNvPr id="27" name="Text 19"/>
          <p:cNvSpPr/>
          <p:nvPr/>
        </p:nvSpPr>
        <p:spPr>
          <a:xfrm>
            <a:off x="1101725" y="3958057"/>
            <a:ext cx="539750" cy="50800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28" name="Image 6" descr="https://kimi-img.moonshot.cn/pub/slides/slides_tmpl/image/25-08-27-20:04:32-d2nf8k18bjvh7rlj0a6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87651" y="1515914"/>
            <a:ext cx="731154" cy="67603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gradFill flip="none" rotWithShape="0">
          <a:gsLst>
            <a:gs pos="0">
              <a:srgbClr val="FFF2C6"/>
            </a:gs>
            <a:gs pos="66000">
              <a:srgbClr val="D8E1FD"/>
            </a:gs>
            <a:gs pos="92000">
              <a:srgbClr val="C7D5FC"/>
            </a:gs>
            <a:gs pos="100000">
              <a:srgbClr val="A1D9F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3615" y="55882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623615" y="55882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823640" y="55882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823640" y="55882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023665" y="55882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023665" y="55882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223690" y="55882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223690" y="55882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20253" y="1299352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420253" y="1299352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20253" y="109932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420253" y="109932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420253" y="899301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420253" y="899301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420253" y="699277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420253" y="699277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74370" y="558800"/>
            <a:ext cx="5421630" cy="14706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just">
              <a:lnSpc>
                <a:spcPct val="100000"/>
              </a:lnSpc>
            </a:pPr>
            <a:r>
              <a:rPr lang="en-US" sz="28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Flask Scaffold in 30 Lines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46289" y="2055854"/>
            <a:ext cx="200024" cy="212992"/>
          </a:xfrm>
          <a:prstGeom prst="ellipse">
            <a:avLst/>
          </a:prstGeom>
          <a:solidFill>
            <a:srgbClr val="000000">
              <a:alpha val="0"/>
            </a:srgbClr>
          </a:solidFill>
          <a:ln w="41275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6289" y="2055854"/>
            <a:ext cx="200024" cy="212992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13079" y="2096392"/>
            <a:ext cx="120259" cy="131914"/>
          </a:xfrm>
          <a:prstGeom prst="ellipse">
            <a:avLst/>
          </a:prstGeom>
          <a:solidFill>
            <a:srgbClr val="C1CEF6"/>
          </a:solidFill>
          <a:ln/>
        </p:spPr>
      </p:sp>
      <p:sp>
        <p:nvSpPr>
          <p:cNvPr id="22" name="Text 20"/>
          <p:cNvSpPr/>
          <p:nvPr/>
        </p:nvSpPr>
        <p:spPr>
          <a:xfrm>
            <a:off x="813079" y="2096392"/>
            <a:ext cx="120259" cy="13191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1115231" y="4503296"/>
            <a:ext cx="200024" cy="212992"/>
          </a:xfrm>
          <a:prstGeom prst="ellipse">
            <a:avLst/>
          </a:prstGeom>
          <a:solidFill>
            <a:srgbClr val="000000">
              <a:alpha val="0"/>
            </a:srgbClr>
          </a:solidFill>
          <a:ln w="41275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115231" y="4503296"/>
            <a:ext cx="200024" cy="212992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1182021" y="4543834"/>
            <a:ext cx="120259" cy="131914"/>
          </a:xfrm>
          <a:prstGeom prst="ellipse">
            <a:avLst/>
          </a:prstGeom>
          <a:solidFill>
            <a:srgbClr val="C1CEF6"/>
          </a:solidFill>
          <a:ln/>
        </p:spPr>
      </p:sp>
      <p:sp>
        <p:nvSpPr>
          <p:cNvPr id="26" name="Text 24"/>
          <p:cNvSpPr/>
          <p:nvPr/>
        </p:nvSpPr>
        <p:spPr>
          <a:xfrm>
            <a:off x="1182021" y="4543834"/>
            <a:ext cx="120259" cy="13191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27" name="Image 0" descr="https://kimi-img.moonshot.cn/pub/slides/slides_tmpl/image/25-08-27-20:04:39-d2nf8lp8bjvh7rlj0ai0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0"/>
            <a:ext cx="6204927" cy="6858000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1010920" y="2128520"/>
            <a:ext cx="4563110" cy="4267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just">
              <a:lnSpc>
                <a:spcPct val="100000"/>
              </a:lnSpc>
            </a:pPr>
            <a:r>
              <a:rPr lang="en-US" sz="18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Basic Flask Setup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940435" y="2436495"/>
            <a:ext cx="4563110" cy="15684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We will set up a basic Flask application with a single POST route to handle user queries. This setup ensures a clean and efficient backend integration.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1410335" y="4457700"/>
            <a:ext cx="4234180" cy="675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Agent Integration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1276985" y="4647565"/>
            <a:ext cx="4672965" cy="17024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The Flask app will call the existing agent module to process queries. This integration reuses the agent code from Day 2, ensuring consistency and reducing duplication.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gradFill flip="none" rotWithShape="0">
          <a:gsLst>
            <a:gs pos="0">
              <a:srgbClr val="FFF2C6"/>
            </a:gs>
            <a:gs pos="66000">
              <a:srgbClr val="D8E1FD"/>
            </a:gs>
            <a:gs pos="92000">
              <a:srgbClr val="C7D5FC"/>
            </a:gs>
            <a:gs pos="100000">
              <a:srgbClr val="A1D9F1"/>
            </a:gs>
          </a:gsLst>
          <a:lin ang="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6084" y="354792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96084" y="354792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96109" y="354792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796109" y="354792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96134" y="354792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996134" y="354792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96159" y="354792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196159" y="354792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92721" y="109531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392721" y="109531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92722" y="895290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392722" y="895290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92722" y="69526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392722" y="69526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92722" y="495241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392722" y="495241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62940" y="549275"/>
            <a:ext cx="11036300" cy="15049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just">
              <a:lnSpc>
                <a:spcPct val="100000"/>
              </a:lnSpc>
            </a:pPr>
            <a:r>
              <a:rPr lang="en-US" sz="32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Agent Endpoint Wiring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26539" y="1356546"/>
            <a:ext cx="273761" cy="268403"/>
          </a:xfrm>
          <a:prstGeom prst="ellipse">
            <a:avLst/>
          </a:prstGeom>
          <a:solidFill>
            <a:srgbClr val="000000">
              <a:alpha val="0"/>
            </a:srgbClr>
          </a:solidFill>
          <a:ln w="41275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6539" y="1356546"/>
            <a:ext cx="273761" cy="268403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17950" y="1407630"/>
            <a:ext cx="164592" cy="166233"/>
          </a:xfrm>
          <a:prstGeom prst="ellipse">
            <a:avLst/>
          </a:prstGeom>
          <a:solidFill>
            <a:srgbClr val="C1CEF6"/>
          </a:solidFill>
          <a:ln/>
        </p:spPr>
      </p:sp>
      <p:sp>
        <p:nvSpPr>
          <p:cNvPr id="22" name="Text 20"/>
          <p:cNvSpPr/>
          <p:nvPr/>
        </p:nvSpPr>
        <p:spPr>
          <a:xfrm>
            <a:off x="517950" y="1407630"/>
            <a:ext cx="164592" cy="166233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23" name="Image 0" descr="https://kimi-img.moonshot.cn/pub/slides/slides_tmpl/image/25-08-27-20:04:39-d2nf8lp8bjvh7rlj0ag0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1825" y="4640150"/>
            <a:ext cx="4209775" cy="1927662"/>
          </a:xfrm>
          <a:prstGeom prst="rect">
            <a:avLst/>
          </a:prstGeom>
        </p:spPr>
      </p:pic>
      <p:pic>
        <p:nvPicPr>
          <p:cNvPr id="24" name="Image 1" descr="https://kimi-img.moonshot.cn/pub/slides/slides_tmpl/image/25-08-27-20:04:42-d2nf8mh8bjvh7rlj0amg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4093" y="4640151"/>
            <a:ext cx="6509421" cy="1927662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426539" y="2348994"/>
            <a:ext cx="273761" cy="268403"/>
          </a:xfrm>
          <a:prstGeom prst="ellipse">
            <a:avLst/>
          </a:prstGeom>
          <a:solidFill>
            <a:srgbClr val="000000">
              <a:alpha val="0"/>
            </a:srgbClr>
          </a:solidFill>
          <a:ln w="41275">
            <a:solidFill>
              <a:srgbClr val="FFFFF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26539" y="2348994"/>
            <a:ext cx="273761" cy="268403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7" name="Shape 23"/>
          <p:cNvSpPr/>
          <p:nvPr/>
        </p:nvSpPr>
        <p:spPr>
          <a:xfrm>
            <a:off x="517950" y="2400078"/>
            <a:ext cx="164592" cy="166233"/>
          </a:xfrm>
          <a:prstGeom prst="ellipse">
            <a:avLst/>
          </a:prstGeom>
          <a:solidFill>
            <a:srgbClr val="C1CEF6"/>
          </a:solidFill>
          <a:ln/>
        </p:spPr>
      </p:sp>
      <p:sp>
        <p:nvSpPr>
          <p:cNvPr id="28" name="Text 24"/>
          <p:cNvSpPr/>
          <p:nvPr/>
        </p:nvSpPr>
        <p:spPr>
          <a:xfrm>
            <a:off x="517950" y="2400078"/>
            <a:ext cx="164592" cy="166233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9" name="Shape 25"/>
          <p:cNvSpPr/>
          <p:nvPr/>
        </p:nvSpPr>
        <p:spPr>
          <a:xfrm>
            <a:off x="426539" y="3480043"/>
            <a:ext cx="273761" cy="268403"/>
          </a:xfrm>
          <a:prstGeom prst="ellipse">
            <a:avLst/>
          </a:prstGeom>
          <a:solidFill>
            <a:srgbClr val="000000">
              <a:alpha val="0"/>
            </a:srgbClr>
          </a:solidFill>
          <a:ln w="41275">
            <a:solidFill>
              <a:srgbClr val="FFFFFF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426539" y="3480043"/>
            <a:ext cx="273761" cy="268403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1" name="Shape 27"/>
          <p:cNvSpPr/>
          <p:nvPr/>
        </p:nvSpPr>
        <p:spPr>
          <a:xfrm>
            <a:off x="517950" y="3531127"/>
            <a:ext cx="164592" cy="166233"/>
          </a:xfrm>
          <a:prstGeom prst="ellipse">
            <a:avLst/>
          </a:prstGeom>
          <a:solidFill>
            <a:srgbClr val="C1CEF6"/>
          </a:solidFill>
          <a:ln/>
        </p:spPr>
      </p:sp>
      <p:sp>
        <p:nvSpPr>
          <p:cNvPr id="32" name="Text 28"/>
          <p:cNvSpPr/>
          <p:nvPr/>
        </p:nvSpPr>
        <p:spPr>
          <a:xfrm>
            <a:off x="517950" y="3531127"/>
            <a:ext cx="164592" cy="166233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3" name="Text 29"/>
          <p:cNvSpPr/>
          <p:nvPr/>
        </p:nvSpPr>
        <p:spPr>
          <a:xfrm>
            <a:off x="760095" y="1344930"/>
            <a:ext cx="10527030" cy="675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Import Agent</a:t>
            </a:r>
            <a:endParaRPr lang="en-US" sz="1600" dirty="0"/>
          </a:p>
        </p:txBody>
      </p:sp>
      <p:sp>
        <p:nvSpPr>
          <p:cNvPr id="34" name="Text 30"/>
          <p:cNvSpPr/>
          <p:nvPr/>
        </p:nvSpPr>
        <p:spPr>
          <a:xfrm>
            <a:off x="826770" y="1708150"/>
            <a:ext cx="11035665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Import the prebuilt agent from the backend module. This ensures that we can reuse the agent logic without modifying the core functionality.</a:t>
            </a:r>
            <a:endParaRPr lang="en-US" sz="1600" dirty="0"/>
          </a:p>
        </p:txBody>
      </p:sp>
      <p:sp>
        <p:nvSpPr>
          <p:cNvPr id="35" name="Text 31"/>
          <p:cNvSpPr/>
          <p:nvPr/>
        </p:nvSpPr>
        <p:spPr>
          <a:xfrm>
            <a:off x="760095" y="2336800"/>
            <a:ext cx="10527665" cy="675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Process Query</a:t>
            </a:r>
            <a:endParaRPr lang="en-US" sz="1600" dirty="0"/>
          </a:p>
        </p:txBody>
      </p:sp>
      <p:sp>
        <p:nvSpPr>
          <p:cNvPr id="36" name="Text 32"/>
          <p:cNvSpPr/>
          <p:nvPr/>
        </p:nvSpPr>
        <p:spPr>
          <a:xfrm>
            <a:off x="826770" y="2700020"/>
            <a:ext cx="11035665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Pass the user query to the agent, which runs the RAG chain and any required tools. The agent returns a combined response with the answer and source documents.</a:t>
            </a:r>
            <a:endParaRPr lang="en-US" sz="1600" dirty="0"/>
          </a:p>
        </p:txBody>
      </p:sp>
      <p:sp>
        <p:nvSpPr>
          <p:cNvPr id="37" name="Text 33"/>
          <p:cNvSpPr/>
          <p:nvPr/>
        </p:nvSpPr>
        <p:spPr>
          <a:xfrm>
            <a:off x="760095" y="3468370"/>
            <a:ext cx="10938510" cy="6756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Return Response</a:t>
            </a:r>
            <a:endParaRPr lang="en-US" sz="1600" dirty="0"/>
          </a:p>
        </p:txBody>
      </p:sp>
      <p:sp>
        <p:nvSpPr>
          <p:cNvPr id="38" name="Text 34"/>
          <p:cNvSpPr/>
          <p:nvPr/>
        </p:nvSpPr>
        <p:spPr>
          <a:xfrm>
            <a:off x="826770" y="3831590"/>
            <a:ext cx="11035665" cy="5219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Package the agent’s response into a JSON object and return it to the frontend. This ensures that the frontend can easily render the response to the user.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gradFill flip="none" rotWithShape="0">
          <a:gsLst>
            <a:gs pos="0">
              <a:srgbClr val="F9F1DC">
                <a:alpha val="38000"/>
              </a:srgbClr>
            </a:gs>
            <a:gs pos="74000">
              <a:srgbClr val="B2C4FF"/>
            </a:gs>
            <a:gs pos="83000">
              <a:srgbClr val="B2C4FF"/>
            </a:gs>
            <a:gs pos="99000">
              <a:srgbClr val="C7D5FC"/>
            </a:gs>
            <a:gs pos="100000">
              <a:srgbClr val="C7D5FC"/>
            </a:gs>
          </a:gsLst>
          <a:lin ang="78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4:33-d2nf8k98bjvh7rlj0a7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426720"/>
            <a:ext cx="12192000" cy="728472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67808" y="418871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1"/>
          <p:cNvSpPr/>
          <p:nvPr/>
        </p:nvSpPr>
        <p:spPr>
          <a:xfrm>
            <a:off x="667808" y="418871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867833" y="418871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867833" y="418871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067858" y="418871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1067858" y="418871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267883" y="418871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1267883" y="418871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64445" y="115939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464445" y="115939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64445" y="959369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464445" y="959369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64445" y="75934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464445" y="75934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64445" y="559320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464445" y="559320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11719690" y="1105009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7"/>
          <p:cNvSpPr/>
          <p:nvPr/>
        </p:nvSpPr>
        <p:spPr>
          <a:xfrm>
            <a:off x="11719690" y="1105009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11719690" y="904983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2" name="Text 19"/>
          <p:cNvSpPr/>
          <p:nvPr/>
        </p:nvSpPr>
        <p:spPr>
          <a:xfrm>
            <a:off x="11719690" y="904983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3" name="Shape 20"/>
          <p:cNvSpPr/>
          <p:nvPr/>
        </p:nvSpPr>
        <p:spPr>
          <a:xfrm>
            <a:off x="11719690" y="70495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4" name="Text 21"/>
          <p:cNvSpPr/>
          <p:nvPr/>
        </p:nvSpPr>
        <p:spPr>
          <a:xfrm>
            <a:off x="11719690" y="70495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11719690" y="50493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6" name="Text 23"/>
          <p:cNvSpPr/>
          <p:nvPr/>
        </p:nvSpPr>
        <p:spPr>
          <a:xfrm>
            <a:off x="11719690" y="50493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7" name="Shape 24"/>
          <p:cNvSpPr/>
          <p:nvPr/>
        </p:nvSpPr>
        <p:spPr>
          <a:xfrm>
            <a:off x="11719690" y="189812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8" name="Text 25"/>
          <p:cNvSpPr/>
          <p:nvPr/>
        </p:nvSpPr>
        <p:spPr>
          <a:xfrm>
            <a:off x="11719690" y="189812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9" name="Shape 26"/>
          <p:cNvSpPr/>
          <p:nvPr/>
        </p:nvSpPr>
        <p:spPr>
          <a:xfrm>
            <a:off x="11719690" y="1698099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0" name="Text 27"/>
          <p:cNvSpPr/>
          <p:nvPr/>
        </p:nvSpPr>
        <p:spPr>
          <a:xfrm>
            <a:off x="11719690" y="1698099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11719690" y="149807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2" name="Text 29"/>
          <p:cNvSpPr/>
          <p:nvPr/>
        </p:nvSpPr>
        <p:spPr>
          <a:xfrm>
            <a:off x="11719690" y="149807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11719690" y="1298050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4" name="Text 31"/>
          <p:cNvSpPr/>
          <p:nvPr/>
        </p:nvSpPr>
        <p:spPr>
          <a:xfrm>
            <a:off x="11719690" y="1298050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35" name="Image 1" descr="https://kimi-img.moonshot.cn/pub/slides/slides_tmpl/image/25-08-27-20:04:48-d2nf8o18bjvh7rlj0b20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81158" y="4114887"/>
            <a:ext cx="2074038" cy="2261184"/>
          </a:xfrm>
          <a:prstGeom prst="rect">
            <a:avLst/>
          </a:prstGeom>
        </p:spPr>
      </p:pic>
      <p:pic>
        <p:nvPicPr>
          <p:cNvPr id="36" name="Image 2" descr="https://kimi-img.moonshot.cn/pub/slides/slides_tmpl/image/25-08-27-20:04:48-d2nf8o18bjvh7rlj0b3g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44831" y="3745013"/>
            <a:ext cx="2074038" cy="2631057"/>
          </a:xfrm>
          <a:prstGeom prst="rect">
            <a:avLst/>
          </a:prstGeom>
        </p:spPr>
      </p:pic>
      <p:pic>
        <p:nvPicPr>
          <p:cNvPr id="37" name="Image 3" descr="https://kimi-img.moonshot.cn/pub/slides/slides_tmpl/image/25-08-27-20:04:48-d2nf8o18bjvh7rlj0b30.jpe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81067" y="904984"/>
            <a:ext cx="2074037" cy="3098304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601345" y="556260"/>
            <a:ext cx="6316345" cy="200406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just">
              <a:lnSpc>
                <a:spcPct val="100000"/>
              </a:lnSpc>
            </a:pPr>
            <a:r>
              <a:rPr lang="en-US" sz="24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HTML Form &amp; Display Logic</a:t>
            </a:r>
            <a:endParaRPr lang="en-US" sz="1600" dirty="0"/>
          </a:p>
        </p:txBody>
      </p:sp>
      <p:sp>
        <p:nvSpPr>
          <p:cNvPr id="39" name="Text 33"/>
          <p:cNvSpPr/>
          <p:nvPr/>
        </p:nvSpPr>
        <p:spPr>
          <a:xfrm>
            <a:off x="523992" y="2064864"/>
            <a:ext cx="5252340" cy="6771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HTML Form</a:t>
            </a:r>
            <a:endParaRPr lang="en-US" sz="1600" dirty="0"/>
          </a:p>
        </p:txBody>
      </p:sp>
      <p:sp>
        <p:nvSpPr>
          <p:cNvPr id="40" name="Text 34"/>
          <p:cNvSpPr/>
          <p:nvPr/>
        </p:nvSpPr>
        <p:spPr>
          <a:xfrm>
            <a:off x="510247" y="2382203"/>
            <a:ext cx="5266085" cy="95410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Create a simple HTML form with a textarea for user input and a submit button. This form will send the query to the backend via a POST request.</a:t>
            </a:r>
            <a:endParaRPr lang="en-US" sz="1600" dirty="0"/>
          </a:p>
        </p:txBody>
      </p:sp>
      <p:sp>
        <p:nvSpPr>
          <p:cNvPr id="41" name="Text 35"/>
          <p:cNvSpPr/>
          <p:nvPr/>
        </p:nvSpPr>
        <p:spPr>
          <a:xfrm>
            <a:off x="449939" y="3847206"/>
            <a:ext cx="3336840" cy="6771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r">
              <a:lnSpc>
                <a:spcPct val="100000"/>
              </a:lnSpc>
            </a:pPr>
            <a:r>
              <a:rPr lang="en-US" sz="18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Fetch API</a:t>
            </a:r>
            <a:endParaRPr lang="en-US" sz="1600" dirty="0"/>
          </a:p>
        </p:txBody>
      </p:sp>
      <p:sp>
        <p:nvSpPr>
          <p:cNvPr id="42" name="Text 36"/>
          <p:cNvSpPr/>
          <p:nvPr/>
        </p:nvSpPr>
        <p:spPr>
          <a:xfrm>
            <a:off x="464446" y="4309133"/>
            <a:ext cx="3284570" cy="160043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Use the Fetch API to send the query to the backend and receive the response. This ensures a seamless interaction between the frontend and backend.</a:t>
            </a:r>
            <a:endParaRPr lang="en-US" sz="1600" dirty="0"/>
          </a:p>
        </p:txBody>
      </p:sp>
      <p:sp>
        <p:nvSpPr>
          <p:cNvPr id="43" name="Text 37"/>
          <p:cNvSpPr/>
          <p:nvPr/>
        </p:nvSpPr>
        <p:spPr>
          <a:xfrm>
            <a:off x="8279774" y="1587311"/>
            <a:ext cx="3835409" cy="6771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Render Response</a:t>
            </a:r>
            <a:endParaRPr lang="en-US" sz="1600" dirty="0"/>
          </a:p>
        </p:txBody>
      </p:sp>
      <p:sp>
        <p:nvSpPr>
          <p:cNvPr id="44" name="Text 38"/>
          <p:cNvSpPr/>
          <p:nvPr/>
        </p:nvSpPr>
        <p:spPr>
          <a:xfrm>
            <a:off x="8279765" y="1998345"/>
            <a:ext cx="3335655" cy="15995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Inject the response from the backend into a div on the page. This will display the answer and source documents to the user in a readable format.</a:t>
            </a:r>
            <a:endParaRPr lang="en-US" sz="1600" dirty="0"/>
          </a:p>
        </p:txBody>
      </p:sp>
      <p:sp>
        <p:nvSpPr>
          <p:cNvPr id="45" name="Text 39"/>
          <p:cNvSpPr/>
          <p:nvPr/>
        </p:nvSpPr>
        <p:spPr>
          <a:xfrm>
            <a:off x="8270413" y="4022268"/>
            <a:ext cx="3835409" cy="6771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Error Handling</a:t>
            </a:r>
            <a:endParaRPr lang="en-US" sz="1600" dirty="0"/>
          </a:p>
        </p:txBody>
      </p:sp>
      <p:sp>
        <p:nvSpPr>
          <p:cNvPr id="46" name="Text 40"/>
          <p:cNvSpPr/>
          <p:nvPr/>
        </p:nvSpPr>
        <p:spPr>
          <a:xfrm>
            <a:off x="8279765" y="4460240"/>
            <a:ext cx="3335655" cy="15995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Implement basic error handling to display any issues to the user. This ensures a robust user experience even if something goes wrong.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gradFill flip="none" rotWithShape="0">
          <a:gsLst>
            <a:gs pos="0">
              <a:srgbClr val="FFF2C6"/>
            </a:gs>
            <a:gs pos="47000">
              <a:srgbClr val="D8E1FD"/>
            </a:gs>
            <a:gs pos="78000">
              <a:srgbClr val="C7D5FC"/>
            </a:gs>
            <a:gs pos="100000">
              <a:srgbClr val="FDF8CB"/>
            </a:gs>
          </a:gsLst>
          <a:lin ang="2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4:38-d2nf8lh8bjvh7rlj0ae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8399" y="517692"/>
            <a:ext cx="7251700" cy="63403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48502" y="2308860"/>
            <a:ext cx="4599086" cy="39395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5000" dirty="0">
                <a:solidFill>
                  <a:srgbClr val="7F9CD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04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97560" y="1932305"/>
            <a:ext cx="10755630" cy="11988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6D7A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Test &amp; Harden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31049" y="85600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731049" y="85600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931074" y="85600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931074" y="85600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131099" y="85600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1131099" y="85600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331124" y="85600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1331124" y="85600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27687" y="1596530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527687" y="1596530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27687" y="139650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527687" y="139650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27687" y="1196479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527687" y="1196479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27687" y="99645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7"/>
          <p:cNvSpPr/>
          <p:nvPr/>
        </p:nvSpPr>
        <p:spPr>
          <a:xfrm>
            <a:off x="527687" y="99645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21" name="Image 1" descr="https://kimi-img.moonshot.cn/pub/slides/slides_tmpl/image/25-08-27-20:04:34-d2nf8kh8bjvh7rlj0a80.png"/>
          <p:cNvPicPr>
            <a:picLocks noChangeAspect="1"/>
          </p:cNvPicPr>
          <p:nvPr/>
        </p:nvPicPr>
        <p:blipFill>
          <a:blip r:embed="rId4">
            <a:alphaModFix amt="59000"/>
          </a:blip>
          <a:stretch>
            <a:fillRect/>
          </a:stretch>
        </p:blipFill>
        <p:spPr>
          <a:xfrm>
            <a:off x="5131435" y="330200"/>
            <a:ext cx="7048500" cy="6197600"/>
          </a:xfrm>
          <a:prstGeom prst="rect">
            <a:avLst/>
          </a:prstGeom>
        </p:spPr>
      </p:pic>
      <p:pic>
        <p:nvPicPr>
          <p:cNvPr id="22" name="Image 2" descr="https://kimi-img.moonshot.cn/pub/slides/slides_tmpl/image/25-08-27-20:04:33-d2nf8k98bjvh7rlj0a7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797300"/>
            <a:ext cx="5143500" cy="3060700"/>
          </a:xfrm>
          <a:prstGeom prst="rect">
            <a:avLst/>
          </a:prstGeom>
        </p:spPr>
      </p:pic>
      <p:pic>
        <p:nvPicPr>
          <p:cNvPr id="23" name="Image 3" descr="https://kimi-img.moonshot.cn/pub/slides/slides_tmpl/image/25-08-27-20:04:32-d2nf8k18bjvh7rlj0a5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445" y="4587240"/>
            <a:ext cx="152400" cy="1524000"/>
          </a:xfrm>
          <a:prstGeom prst="rect">
            <a:avLst/>
          </a:prstGeom>
        </p:spPr>
      </p:pic>
      <p:pic>
        <p:nvPicPr>
          <p:cNvPr id="24" name="Image 4" descr="https://kimi-img.moonshot.cn/pub/slides/slides_tmpl/image/25-08-27-20:04:32-d2nf8k18bjvh7rlj0a6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11275" y="3907257"/>
            <a:ext cx="1320800" cy="1371600"/>
          </a:xfrm>
          <a:prstGeom prst="rect">
            <a:avLst/>
          </a:prstGeom>
        </p:spPr>
      </p:pic>
      <p:pic>
        <p:nvPicPr>
          <p:cNvPr id="25" name="Image 5" descr="https://kimi-img.moonshot.cn/pub/slides/slides_tmpl/image/25-08-27-20:04:32-d2nf8k18bjvh7rlj0a6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70172" y="1111250"/>
            <a:ext cx="983056" cy="907962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1101725" y="3958057"/>
            <a:ext cx="539750" cy="508001"/>
          </a:xfrm>
          <a:prstGeom prst="ellipse">
            <a:avLst/>
          </a:prstGeom>
          <a:solidFill>
            <a:srgbClr val="B2C4FF"/>
          </a:solidFill>
          <a:ln/>
        </p:spPr>
      </p:sp>
      <p:sp>
        <p:nvSpPr>
          <p:cNvPr id="27" name="Text 19"/>
          <p:cNvSpPr/>
          <p:nvPr/>
        </p:nvSpPr>
        <p:spPr>
          <a:xfrm>
            <a:off x="1101725" y="3958057"/>
            <a:ext cx="539750" cy="50800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28" name="Image 6" descr="https://kimi-img.moonshot.cn/pub/slides/slides_tmpl/image/25-08-27-20:04:32-d2nf8k18bjvh7rlj0a6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87651" y="1515914"/>
            <a:ext cx="731154" cy="67603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BF3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4:34-d2nf8kh8bjvh7rlj0a90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63465" y="1213485"/>
            <a:ext cx="6986905" cy="473075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545117" y="67313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1"/>
          <p:cNvSpPr/>
          <p:nvPr/>
        </p:nvSpPr>
        <p:spPr>
          <a:xfrm>
            <a:off x="545117" y="67313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45142" y="67313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745142" y="67313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945167" y="67313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945167" y="67313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145192" y="67313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1145192" y="67313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341754" y="1413659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341754" y="1413659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341754" y="1213633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341754" y="1213633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341754" y="101360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341754" y="101360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341754" y="81358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341754" y="81358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11505" y="880110"/>
            <a:ext cx="3765550" cy="16516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just">
              <a:lnSpc>
                <a:spcPct val="100000"/>
              </a:lnSpc>
            </a:pPr>
            <a:r>
              <a:rPr lang="en-US" sz="24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Manual Test Checklist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410210" y="2501265"/>
            <a:ext cx="273685" cy="332740"/>
          </a:xfrm>
          <a:prstGeom prst="ellipse">
            <a:avLst/>
          </a:prstGeom>
          <a:solidFill>
            <a:srgbClr val="000000">
              <a:alpha val="0"/>
            </a:srgbClr>
          </a:solidFill>
          <a:ln w="41275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10210" y="2501265"/>
            <a:ext cx="273685" cy="33274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01595" y="2564594"/>
            <a:ext cx="164546" cy="206079"/>
          </a:xfrm>
          <a:prstGeom prst="ellipse">
            <a:avLst/>
          </a:prstGeom>
          <a:solidFill>
            <a:srgbClr val="C1CEF6"/>
          </a:solidFill>
          <a:ln/>
        </p:spPr>
      </p:sp>
      <p:sp>
        <p:nvSpPr>
          <p:cNvPr id="23" name="Text 20"/>
          <p:cNvSpPr/>
          <p:nvPr/>
        </p:nvSpPr>
        <p:spPr>
          <a:xfrm>
            <a:off x="501595" y="2564594"/>
            <a:ext cx="164546" cy="206079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24" name="Image 1" descr="https://kimi-img.moonshot.cn/pub/slides/slides_tmpl/image/25-08-27-20:04:33-d2nf8k98bjvh7rlj0a7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441394" y="2324796"/>
            <a:ext cx="6782099" cy="4533204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4260116" y="2993310"/>
            <a:ext cx="7931884" cy="213351"/>
          </a:xfrm>
          <a:prstGeom prst="rect">
            <a:avLst/>
          </a:prstGeom>
          <a:solidFill>
            <a:srgbClr val="F9F1DC"/>
          </a:solidFill>
          <a:ln/>
        </p:spPr>
      </p:sp>
      <p:sp>
        <p:nvSpPr>
          <p:cNvPr id="26" name="Text 22"/>
          <p:cNvSpPr/>
          <p:nvPr/>
        </p:nvSpPr>
        <p:spPr>
          <a:xfrm>
            <a:off x="4260116" y="2993310"/>
            <a:ext cx="7931884" cy="21335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7" name="Text 23"/>
          <p:cNvSpPr/>
          <p:nvPr/>
        </p:nvSpPr>
        <p:spPr>
          <a:xfrm>
            <a:off x="779780" y="2604770"/>
            <a:ext cx="3745865" cy="8769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just">
              <a:lnSpc>
                <a:spcPct val="100000"/>
              </a:lnSpc>
            </a:pPr>
            <a:r>
              <a:rPr lang="en-US" sz="20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Test Steps</a:t>
            </a:r>
            <a:endParaRPr lang="en-US" sz="1600" dirty="0"/>
          </a:p>
        </p:txBody>
      </p:sp>
      <p:sp>
        <p:nvSpPr>
          <p:cNvPr id="28" name="Text 24"/>
          <p:cNvSpPr/>
          <p:nvPr/>
        </p:nvSpPr>
        <p:spPr>
          <a:xfrm>
            <a:off x="762635" y="3235325"/>
            <a:ext cx="3765550" cy="27082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Ask a RAG question to verify sources appear, request a calculation to confirm tool invocation, and submit an ambiguous query to see the agent combine retrieval and tools.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CF3D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43842" y="520391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743842" y="520391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943867" y="520391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943867" y="520391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143892" y="520391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1143892" y="520391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343917" y="520391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343917" y="520391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0480" y="126091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540480" y="126091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40480" y="1060889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540480" y="1060889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40480" y="86086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540480" y="86086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40480" y="660840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540480" y="660840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77875" y="683895"/>
            <a:ext cx="4934585" cy="132270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algn="just">
              <a:lnSpc>
                <a:spcPct val="100000"/>
              </a:lnSpc>
            </a:pPr>
            <a:r>
              <a:rPr lang="en-US" sz="28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Quick Debug Cheat-Sheet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469017" y="2034887"/>
            <a:ext cx="273761" cy="268403"/>
          </a:xfrm>
          <a:prstGeom prst="ellipse">
            <a:avLst/>
          </a:prstGeom>
          <a:solidFill>
            <a:srgbClr val="000000">
              <a:alpha val="0"/>
            </a:srgbClr>
          </a:solidFill>
          <a:ln w="41275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69017" y="2034887"/>
            <a:ext cx="273761" cy="268403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560428" y="2085971"/>
            <a:ext cx="164592" cy="166233"/>
          </a:xfrm>
          <a:prstGeom prst="ellipse">
            <a:avLst/>
          </a:prstGeom>
          <a:solidFill>
            <a:srgbClr val="C1CEF6"/>
          </a:solidFill>
          <a:ln/>
        </p:spPr>
      </p:sp>
      <p:sp>
        <p:nvSpPr>
          <p:cNvPr id="22" name="Text 20"/>
          <p:cNvSpPr/>
          <p:nvPr/>
        </p:nvSpPr>
        <p:spPr>
          <a:xfrm>
            <a:off x="560428" y="2085971"/>
            <a:ext cx="164592" cy="166233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69017" y="4508754"/>
            <a:ext cx="273761" cy="268403"/>
          </a:xfrm>
          <a:prstGeom prst="ellipse">
            <a:avLst/>
          </a:prstGeom>
          <a:solidFill>
            <a:srgbClr val="000000">
              <a:alpha val="0"/>
            </a:srgbClr>
          </a:solidFill>
          <a:ln w="41275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9017" y="4508754"/>
            <a:ext cx="273761" cy="268403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5" name="Shape 23"/>
          <p:cNvSpPr/>
          <p:nvPr/>
        </p:nvSpPr>
        <p:spPr>
          <a:xfrm>
            <a:off x="560428" y="4559838"/>
            <a:ext cx="164592" cy="166233"/>
          </a:xfrm>
          <a:prstGeom prst="ellipse">
            <a:avLst/>
          </a:prstGeom>
          <a:solidFill>
            <a:srgbClr val="C1CEF6"/>
          </a:solidFill>
          <a:ln/>
        </p:spPr>
      </p:sp>
      <p:sp>
        <p:nvSpPr>
          <p:cNvPr id="26" name="Text 24"/>
          <p:cNvSpPr/>
          <p:nvPr/>
        </p:nvSpPr>
        <p:spPr>
          <a:xfrm>
            <a:off x="560428" y="4559838"/>
            <a:ext cx="164592" cy="166233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t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27" name="Image 0" descr="https://kimi-img.moonshot.cn/pub/slides/slides_tmpl/image/25-08-27-20:04:36-d2nf8l18bjvh7rlj0ab0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9841"/>
            <a:ext cx="6095999" cy="6838159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777875" y="2008505"/>
            <a:ext cx="4934585" cy="116903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just">
              <a:lnSpc>
                <a:spcPct val="100000"/>
              </a:lnSpc>
            </a:pPr>
            <a:r>
              <a:rPr lang="en-US" sz="20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Common Issues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10260" y="2479040"/>
            <a:ext cx="4934585" cy="176974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Address common issues like 404 errors on routes, empty answers due to vector store path mismatches, and calculator failures due to missing tool descriptions.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777663" y="4472248"/>
            <a:ext cx="4983898" cy="707886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0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CORS Errors</a:t>
            </a:r>
            <a:endParaRPr lang="en-US" sz="1600" dirty="0"/>
          </a:p>
        </p:txBody>
      </p:sp>
      <p:sp>
        <p:nvSpPr>
          <p:cNvPr id="31" name="Text 28"/>
          <p:cNvSpPr/>
          <p:nvPr/>
        </p:nvSpPr>
        <p:spPr>
          <a:xfrm>
            <a:off x="810517" y="5005494"/>
            <a:ext cx="4934300" cy="132207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Ensure CORS is enabled to avoid cross-origin issues during local testing. This allows the frontend to communicate with the backend without restrictions.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gradFill flip="none" rotWithShape="0">
          <a:gsLst>
            <a:gs pos="0">
              <a:srgbClr val="FFF2C6"/>
            </a:gs>
            <a:gs pos="47000">
              <a:srgbClr val="D8E1FD"/>
            </a:gs>
            <a:gs pos="78000">
              <a:srgbClr val="C7D5FC"/>
            </a:gs>
            <a:gs pos="100000">
              <a:srgbClr val="FDF8CB"/>
            </a:gs>
          </a:gsLst>
          <a:lin ang="2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4:38-d2nf8lh8bjvh7rlj0ae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28399" y="517692"/>
            <a:ext cx="7251700" cy="634030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048502" y="2308860"/>
            <a:ext cx="4599086" cy="393954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5000" dirty="0">
                <a:solidFill>
                  <a:srgbClr val="7F9CD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05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97560" y="1932305"/>
            <a:ext cx="10755630" cy="11988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4000" dirty="0">
                <a:solidFill>
                  <a:srgbClr val="6D7AA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Ship &amp; Next Steps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731049" y="85600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731049" y="85600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931074" y="85600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931074" y="85600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131099" y="85600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1131099" y="85600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1331124" y="85600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1331124" y="85600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527687" y="1596530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527687" y="1596530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527687" y="139650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527687" y="139650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527687" y="1196479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527687" y="1196479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527687" y="99645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7"/>
          <p:cNvSpPr/>
          <p:nvPr/>
        </p:nvSpPr>
        <p:spPr>
          <a:xfrm>
            <a:off x="527687" y="99645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21" name="Image 1" descr="https://kimi-img.moonshot.cn/pub/slides/slides_tmpl/image/25-08-27-20:04:34-d2nf8kh8bjvh7rlj0a80.png"/>
          <p:cNvPicPr>
            <a:picLocks noChangeAspect="1"/>
          </p:cNvPicPr>
          <p:nvPr/>
        </p:nvPicPr>
        <p:blipFill>
          <a:blip r:embed="rId4">
            <a:alphaModFix amt="59000"/>
          </a:blip>
          <a:stretch>
            <a:fillRect/>
          </a:stretch>
        </p:blipFill>
        <p:spPr>
          <a:xfrm>
            <a:off x="5131435" y="330200"/>
            <a:ext cx="7048500" cy="6197600"/>
          </a:xfrm>
          <a:prstGeom prst="rect">
            <a:avLst/>
          </a:prstGeom>
        </p:spPr>
      </p:pic>
      <p:pic>
        <p:nvPicPr>
          <p:cNvPr id="22" name="Image 2" descr="https://kimi-img.moonshot.cn/pub/slides/slides_tmpl/image/25-08-27-20:04:33-d2nf8k98bjvh7rlj0a7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3797300"/>
            <a:ext cx="5143500" cy="3060700"/>
          </a:xfrm>
          <a:prstGeom prst="rect">
            <a:avLst/>
          </a:prstGeom>
        </p:spPr>
      </p:pic>
      <p:pic>
        <p:nvPicPr>
          <p:cNvPr id="23" name="Image 3" descr="https://kimi-img.moonshot.cn/pub/slides/slides_tmpl/image/25-08-27-20:04:32-d2nf8k18bjvh7rlj0a5g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445" y="4587240"/>
            <a:ext cx="152400" cy="1524000"/>
          </a:xfrm>
          <a:prstGeom prst="rect">
            <a:avLst/>
          </a:prstGeom>
        </p:spPr>
      </p:pic>
      <p:pic>
        <p:nvPicPr>
          <p:cNvPr id="24" name="Image 4" descr="https://kimi-img.moonshot.cn/pub/slides/slides_tmpl/image/25-08-27-20:04:32-d2nf8k18bjvh7rlj0a6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311275" y="3907257"/>
            <a:ext cx="1320800" cy="1371600"/>
          </a:xfrm>
          <a:prstGeom prst="rect">
            <a:avLst/>
          </a:prstGeom>
        </p:spPr>
      </p:pic>
      <p:pic>
        <p:nvPicPr>
          <p:cNvPr id="25" name="Image 5" descr="https://kimi-img.moonshot.cn/pub/slides/slides_tmpl/image/25-08-27-20:04:32-d2nf8k18bjvh7rlj0a6g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570172" y="1111250"/>
            <a:ext cx="983056" cy="907962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1101725" y="3958057"/>
            <a:ext cx="539750" cy="508001"/>
          </a:xfrm>
          <a:prstGeom prst="ellipse">
            <a:avLst/>
          </a:prstGeom>
          <a:solidFill>
            <a:srgbClr val="B2C4FF"/>
          </a:solidFill>
          <a:ln/>
        </p:spPr>
      </p:sp>
      <p:sp>
        <p:nvSpPr>
          <p:cNvPr id="27" name="Text 19"/>
          <p:cNvSpPr/>
          <p:nvPr/>
        </p:nvSpPr>
        <p:spPr>
          <a:xfrm>
            <a:off x="1101725" y="3958057"/>
            <a:ext cx="539750" cy="50800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28" name="Image 6" descr="https://kimi-img.moonshot.cn/pub/slides/slides_tmpl/image/25-08-27-20:04:32-d2nf8k18bjvh7rlj0a60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87651" y="1515914"/>
            <a:ext cx="731154" cy="676035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gradFill flip="none" rotWithShape="0">
          <a:gsLst>
            <a:gs pos="0">
              <a:srgbClr val="B2C4FF"/>
            </a:gs>
            <a:gs pos="22000">
              <a:srgbClr val="C7D5FC"/>
            </a:gs>
            <a:gs pos="73000">
              <a:srgbClr val="FFF2C6"/>
            </a:gs>
            <a:gs pos="88000">
              <a:srgbClr val="D8E1FD"/>
            </a:gs>
            <a:gs pos="100000">
              <a:srgbClr val="D8E1FD"/>
            </a:gs>
          </a:gsLst>
          <a:lin ang="27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8710" y="68992"/>
            <a:ext cx="300155" cy="6789008"/>
          </a:xfrm>
          <a:prstGeom prst="rect">
            <a:avLst/>
          </a:prstGeom>
          <a:solidFill>
            <a:srgbClr val="D8E1FD"/>
          </a:solidFill>
          <a:ln/>
        </p:spPr>
      </p:sp>
      <p:sp>
        <p:nvSpPr>
          <p:cNvPr id="3" name="Text 1"/>
          <p:cNvSpPr/>
          <p:nvPr/>
        </p:nvSpPr>
        <p:spPr>
          <a:xfrm>
            <a:off x="7868710" y="68992"/>
            <a:ext cx="300155" cy="6789008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08962" y="413992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508962" y="413992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08987" y="413992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708987" y="413992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09012" y="413992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909012" y="413992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109037" y="413992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1109037" y="413992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05600" y="115451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305600" y="115451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05600" y="954490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305600" y="954490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05600" y="75446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305600" y="75446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305600" y="554441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9" name="Text 17"/>
          <p:cNvSpPr/>
          <p:nvPr/>
        </p:nvSpPr>
        <p:spPr>
          <a:xfrm>
            <a:off x="305600" y="554441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92455" y="630555"/>
            <a:ext cx="11024235" cy="14382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just">
              <a:lnSpc>
                <a:spcPct val="100000"/>
              </a:lnSpc>
            </a:pPr>
            <a:r>
              <a:rPr lang="en-US" sz="28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Optional Enhancements List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339877" y="4014928"/>
            <a:ext cx="228803" cy="212992"/>
          </a:xfrm>
          <a:prstGeom prst="ellipse">
            <a:avLst/>
          </a:prstGeom>
          <a:solidFill>
            <a:srgbClr val="000000">
              <a:alpha val="0"/>
            </a:srgbClr>
          </a:solidFill>
          <a:ln w="41275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9877" y="4014928"/>
            <a:ext cx="228803" cy="212992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416276" y="4055466"/>
            <a:ext cx="137562" cy="131914"/>
          </a:xfrm>
          <a:prstGeom prst="ellipse">
            <a:avLst/>
          </a:prstGeom>
          <a:solidFill>
            <a:srgbClr val="C1CEF6"/>
          </a:solidFill>
          <a:ln/>
        </p:spPr>
      </p:sp>
      <p:sp>
        <p:nvSpPr>
          <p:cNvPr id="24" name="Text 22"/>
          <p:cNvSpPr/>
          <p:nvPr/>
        </p:nvSpPr>
        <p:spPr>
          <a:xfrm>
            <a:off x="416276" y="4055466"/>
            <a:ext cx="137562" cy="13191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25" name="Image 0" descr="https://kimi-img.moonshot.cn/pub/slides/slides_tmpl/image/25-08-27-20:04:46-d2nf8nh8bjvh7rlj0aug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514" y="1654149"/>
            <a:ext cx="2397686" cy="2191819"/>
          </a:xfrm>
          <a:prstGeom prst="rect">
            <a:avLst/>
          </a:prstGeom>
        </p:spPr>
      </p:pic>
      <p:pic>
        <p:nvPicPr>
          <p:cNvPr id="26" name="Image 1" descr="https://kimi-img.moonshot.cn/pub/slides/slides_tmpl/image/25-08-27-20:04:46-d2nf8nh8bjvh7rlj0au0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8652" y="1608057"/>
            <a:ext cx="2525035" cy="2234030"/>
          </a:xfrm>
          <a:prstGeom prst="rect">
            <a:avLst/>
          </a:prstGeom>
        </p:spPr>
      </p:pic>
      <p:pic>
        <p:nvPicPr>
          <p:cNvPr id="27" name="Image 2" descr="https://kimi-img.moonshot.cn/pub/slides/slides_tmpl/image/25-08-27-20:04:47-d2nf8np8bjvh7rlj0avg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40966" y="1654149"/>
            <a:ext cx="2397686" cy="2191818"/>
          </a:xfrm>
          <a:prstGeom prst="rect">
            <a:avLst/>
          </a:prstGeom>
        </p:spPr>
      </p:pic>
      <p:sp>
        <p:nvSpPr>
          <p:cNvPr id="28" name="Shape 23"/>
          <p:cNvSpPr/>
          <p:nvPr/>
        </p:nvSpPr>
        <p:spPr>
          <a:xfrm>
            <a:off x="8369467" y="1636820"/>
            <a:ext cx="228803" cy="212992"/>
          </a:xfrm>
          <a:prstGeom prst="ellipse">
            <a:avLst/>
          </a:prstGeom>
          <a:solidFill>
            <a:srgbClr val="000000">
              <a:alpha val="0"/>
            </a:srgbClr>
          </a:solidFill>
          <a:ln w="41275">
            <a:solidFill>
              <a:srgbClr val="FFFFFF"/>
            </a:solidFill>
            <a:prstDash val="solid"/>
          </a:ln>
        </p:spPr>
      </p:sp>
      <p:sp>
        <p:nvSpPr>
          <p:cNvPr id="29" name="Text 24"/>
          <p:cNvSpPr/>
          <p:nvPr/>
        </p:nvSpPr>
        <p:spPr>
          <a:xfrm>
            <a:off x="8369467" y="1636820"/>
            <a:ext cx="228803" cy="212992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0" name="Shape 25"/>
          <p:cNvSpPr/>
          <p:nvPr/>
        </p:nvSpPr>
        <p:spPr>
          <a:xfrm>
            <a:off x="8445866" y="1677358"/>
            <a:ext cx="137562" cy="131914"/>
          </a:xfrm>
          <a:prstGeom prst="ellipse">
            <a:avLst/>
          </a:prstGeom>
          <a:solidFill>
            <a:srgbClr val="C1CEF6"/>
          </a:solidFill>
          <a:ln/>
        </p:spPr>
      </p:sp>
      <p:sp>
        <p:nvSpPr>
          <p:cNvPr id="31" name="Text 26"/>
          <p:cNvSpPr/>
          <p:nvPr/>
        </p:nvSpPr>
        <p:spPr>
          <a:xfrm>
            <a:off x="8445866" y="1677358"/>
            <a:ext cx="137562" cy="13191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2" name="Shape 27"/>
          <p:cNvSpPr/>
          <p:nvPr/>
        </p:nvSpPr>
        <p:spPr>
          <a:xfrm>
            <a:off x="8309851" y="4197896"/>
            <a:ext cx="228803" cy="212992"/>
          </a:xfrm>
          <a:prstGeom prst="ellipse">
            <a:avLst/>
          </a:prstGeom>
          <a:solidFill>
            <a:srgbClr val="000000">
              <a:alpha val="0"/>
            </a:srgbClr>
          </a:solidFill>
          <a:ln w="41275">
            <a:solidFill>
              <a:srgbClr val="FFFFFF"/>
            </a:solidFill>
            <a:prstDash val="solid"/>
          </a:ln>
        </p:spPr>
      </p:sp>
      <p:sp>
        <p:nvSpPr>
          <p:cNvPr id="33" name="Text 28"/>
          <p:cNvSpPr/>
          <p:nvPr/>
        </p:nvSpPr>
        <p:spPr>
          <a:xfrm>
            <a:off x="8309851" y="4197896"/>
            <a:ext cx="228803" cy="212992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4" name="Shape 29"/>
          <p:cNvSpPr/>
          <p:nvPr/>
        </p:nvSpPr>
        <p:spPr>
          <a:xfrm>
            <a:off x="8386250" y="4238434"/>
            <a:ext cx="137562" cy="131914"/>
          </a:xfrm>
          <a:prstGeom prst="ellipse">
            <a:avLst/>
          </a:prstGeom>
          <a:solidFill>
            <a:srgbClr val="C1CEF6"/>
          </a:solidFill>
          <a:ln/>
        </p:spPr>
      </p:sp>
      <p:sp>
        <p:nvSpPr>
          <p:cNvPr id="35" name="Text 30"/>
          <p:cNvSpPr/>
          <p:nvPr/>
        </p:nvSpPr>
        <p:spPr>
          <a:xfrm>
            <a:off x="8386250" y="4238434"/>
            <a:ext cx="137562" cy="13191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6" name="Shape 31"/>
          <p:cNvSpPr/>
          <p:nvPr/>
        </p:nvSpPr>
        <p:spPr>
          <a:xfrm>
            <a:off x="343443" y="5361712"/>
            <a:ext cx="228803" cy="212992"/>
          </a:xfrm>
          <a:prstGeom prst="ellipse">
            <a:avLst/>
          </a:prstGeom>
          <a:solidFill>
            <a:srgbClr val="000000">
              <a:alpha val="0"/>
            </a:srgbClr>
          </a:solidFill>
          <a:ln w="41275">
            <a:solidFill>
              <a:srgbClr val="FFFFFF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343443" y="5361712"/>
            <a:ext cx="228803" cy="212992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8" name="Shape 33"/>
          <p:cNvSpPr/>
          <p:nvPr/>
        </p:nvSpPr>
        <p:spPr>
          <a:xfrm>
            <a:off x="419842" y="5402250"/>
            <a:ext cx="137562" cy="131914"/>
          </a:xfrm>
          <a:prstGeom prst="ellipse">
            <a:avLst/>
          </a:prstGeom>
          <a:solidFill>
            <a:srgbClr val="C1CEF6"/>
          </a:solidFill>
          <a:ln/>
        </p:spPr>
      </p:sp>
      <p:sp>
        <p:nvSpPr>
          <p:cNvPr id="39" name="Text 34"/>
          <p:cNvSpPr/>
          <p:nvPr/>
        </p:nvSpPr>
        <p:spPr>
          <a:xfrm>
            <a:off x="419842" y="5402250"/>
            <a:ext cx="137562" cy="13191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0" name="Text 35"/>
          <p:cNvSpPr/>
          <p:nvPr/>
        </p:nvSpPr>
        <p:spPr>
          <a:xfrm>
            <a:off x="653043" y="3967024"/>
            <a:ext cx="7369827" cy="6771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Chat History</a:t>
            </a:r>
            <a:endParaRPr lang="en-US" sz="1600" dirty="0"/>
          </a:p>
        </p:txBody>
      </p:sp>
      <p:sp>
        <p:nvSpPr>
          <p:cNvPr id="41" name="Text 36"/>
          <p:cNvSpPr/>
          <p:nvPr/>
        </p:nvSpPr>
        <p:spPr>
          <a:xfrm>
            <a:off x="653043" y="4329046"/>
            <a:ext cx="7117783" cy="73866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Add session-based chat history to keep track of previous interactions. This enhances the user experience by providing context.</a:t>
            </a:r>
            <a:endParaRPr lang="en-US" sz="1600" dirty="0"/>
          </a:p>
        </p:txBody>
      </p:sp>
      <p:sp>
        <p:nvSpPr>
          <p:cNvPr id="42" name="Text 37"/>
          <p:cNvSpPr/>
          <p:nvPr/>
        </p:nvSpPr>
        <p:spPr>
          <a:xfrm>
            <a:off x="656609" y="5313808"/>
            <a:ext cx="7447243" cy="6771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Streamlit Upgrade</a:t>
            </a:r>
            <a:endParaRPr lang="en-US" sz="1600" dirty="0"/>
          </a:p>
        </p:txBody>
      </p:sp>
      <p:sp>
        <p:nvSpPr>
          <p:cNvPr id="43" name="Text 38"/>
          <p:cNvSpPr/>
          <p:nvPr/>
        </p:nvSpPr>
        <p:spPr>
          <a:xfrm>
            <a:off x="656609" y="5675830"/>
            <a:ext cx="7114217" cy="738664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Consider swapping Flask for Streamlit for auto-reloading widgets and easier deployment. This can simplify the development process.</a:t>
            </a:r>
            <a:endParaRPr lang="en-US" sz="1600" dirty="0"/>
          </a:p>
        </p:txBody>
      </p:sp>
      <p:sp>
        <p:nvSpPr>
          <p:cNvPr id="44" name="Text 39"/>
          <p:cNvSpPr/>
          <p:nvPr/>
        </p:nvSpPr>
        <p:spPr>
          <a:xfrm>
            <a:off x="8678127" y="1608057"/>
            <a:ext cx="3641591" cy="6771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Docker Containerization</a:t>
            </a:r>
            <a:endParaRPr lang="en-US" sz="1600" dirty="0"/>
          </a:p>
        </p:txBody>
      </p:sp>
      <p:sp>
        <p:nvSpPr>
          <p:cNvPr id="45" name="Text 40"/>
          <p:cNvSpPr/>
          <p:nvPr/>
        </p:nvSpPr>
        <p:spPr>
          <a:xfrm>
            <a:off x="8613140" y="2170748"/>
            <a:ext cx="3446780" cy="13836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Containerize the application with Docker for easy deployment and scalability. This ensures that the application runs consistently across different environments.</a:t>
            </a:r>
            <a:endParaRPr lang="en-US" sz="1600" dirty="0"/>
          </a:p>
        </p:txBody>
      </p:sp>
      <p:sp>
        <p:nvSpPr>
          <p:cNvPr id="46" name="Text 41"/>
          <p:cNvSpPr/>
          <p:nvPr/>
        </p:nvSpPr>
        <p:spPr>
          <a:xfrm>
            <a:off x="8618511" y="4169133"/>
            <a:ext cx="3641591" cy="6771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UI/UX Improvements</a:t>
            </a:r>
            <a:endParaRPr lang="en-US" sz="1600" dirty="0"/>
          </a:p>
        </p:txBody>
      </p:sp>
      <p:sp>
        <p:nvSpPr>
          <p:cNvPr id="47" name="Text 42"/>
          <p:cNvSpPr/>
          <p:nvPr/>
        </p:nvSpPr>
        <p:spPr>
          <a:xfrm>
            <a:off x="8553450" y="4731703"/>
            <a:ext cx="3446780" cy="13836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Apply basic CSS for a branded look and improve the overall user interface. This can make the application more visually appealing and user-friendly.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gradFill flip="none" rotWithShape="0">
          <a:gsLst>
            <a:gs pos="0">
              <a:srgbClr val="FFF2C6"/>
            </a:gs>
            <a:gs pos="66000">
              <a:srgbClr val="D8E1FD"/>
            </a:gs>
            <a:gs pos="92000">
              <a:srgbClr val="C7D5FC"/>
            </a:gs>
            <a:gs pos="100000">
              <a:srgbClr val="A1D9F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4:33-d2nf8k98bjvh7rlj0a7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5409900" y="1747520"/>
            <a:ext cx="6782099" cy="4533204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26131" y="324163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" name="Text 1"/>
          <p:cNvSpPr/>
          <p:nvPr/>
        </p:nvSpPr>
        <p:spPr>
          <a:xfrm>
            <a:off x="626131" y="324163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826156" y="324163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826156" y="324163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1026181" y="324163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1026181" y="324163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1226206" y="324163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1226206" y="324163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422769" y="1064687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422769" y="1064687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22769" y="864661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422769" y="864661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422769" y="66463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422769" y="66463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422769" y="464612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422769" y="464612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692785" y="474345"/>
            <a:ext cx="10713720" cy="165735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algn="just">
              <a:lnSpc>
                <a:spcPct val="100000"/>
              </a:lnSpc>
            </a:pPr>
            <a:r>
              <a:rPr lang="en-US" sz="32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Deployment Snapshot</a:t>
            </a:r>
            <a:endParaRPr lang="en-US" sz="1600" dirty="0"/>
          </a:p>
        </p:txBody>
      </p:sp>
      <p:sp>
        <p:nvSpPr>
          <p:cNvPr id="20" name="Shape 17"/>
          <p:cNvSpPr/>
          <p:nvPr/>
        </p:nvSpPr>
        <p:spPr>
          <a:xfrm>
            <a:off x="5880705" y="1277879"/>
            <a:ext cx="273761" cy="268403"/>
          </a:xfrm>
          <a:prstGeom prst="ellipse">
            <a:avLst/>
          </a:prstGeom>
          <a:solidFill>
            <a:srgbClr val="000000">
              <a:alpha val="0"/>
            </a:srgbClr>
          </a:solidFill>
          <a:ln w="41275">
            <a:solidFill>
              <a:srgbClr val="FFFFFF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880705" y="1277879"/>
            <a:ext cx="273761" cy="268403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5972116" y="1328963"/>
            <a:ext cx="164592" cy="166233"/>
          </a:xfrm>
          <a:prstGeom prst="ellipse">
            <a:avLst/>
          </a:prstGeom>
          <a:solidFill>
            <a:srgbClr val="C1CEF6"/>
          </a:solidFill>
          <a:ln/>
        </p:spPr>
      </p:sp>
      <p:sp>
        <p:nvSpPr>
          <p:cNvPr id="23" name="Text 20"/>
          <p:cNvSpPr/>
          <p:nvPr/>
        </p:nvSpPr>
        <p:spPr>
          <a:xfrm>
            <a:off x="5972116" y="1328963"/>
            <a:ext cx="164592" cy="166233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4" name="Shape 21"/>
          <p:cNvSpPr/>
          <p:nvPr/>
        </p:nvSpPr>
        <p:spPr>
          <a:xfrm>
            <a:off x="5880705" y="3072924"/>
            <a:ext cx="273761" cy="268403"/>
          </a:xfrm>
          <a:prstGeom prst="ellipse">
            <a:avLst/>
          </a:prstGeom>
          <a:solidFill>
            <a:srgbClr val="000000">
              <a:alpha val="0"/>
            </a:srgbClr>
          </a:solidFill>
          <a:ln w="41275">
            <a:solidFill>
              <a:srgbClr val="FFFFFF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880705" y="3072924"/>
            <a:ext cx="273761" cy="268403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6" name="Shape 23"/>
          <p:cNvSpPr/>
          <p:nvPr/>
        </p:nvSpPr>
        <p:spPr>
          <a:xfrm>
            <a:off x="5972116" y="3124008"/>
            <a:ext cx="164592" cy="166233"/>
          </a:xfrm>
          <a:prstGeom prst="ellipse">
            <a:avLst/>
          </a:prstGeom>
          <a:solidFill>
            <a:srgbClr val="C1CEF6"/>
          </a:solidFill>
          <a:ln/>
        </p:spPr>
      </p:sp>
      <p:sp>
        <p:nvSpPr>
          <p:cNvPr id="27" name="Text 24"/>
          <p:cNvSpPr/>
          <p:nvPr/>
        </p:nvSpPr>
        <p:spPr>
          <a:xfrm>
            <a:off x="5972116" y="3124008"/>
            <a:ext cx="164592" cy="166233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28" name="Image 1" descr="https://kimi-img.moonshot.cn/pub/slides/slides_tmpl/image/25-08-27-20:04:43-d2nf8mp8bjvh7rlj0an0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1975" y="1870714"/>
            <a:ext cx="4406868" cy="4533204"/>
          </a:xfrm>
          <a:prstGeom prst="rect">
            <a:avLst/>
          </a:prstGeom>
        </p:spPr>
      </p:pic>
      <p:sp>
        <p:nvSpPr>
          <p:cNvPr id="29" name="Shape 25"/>
          <p:cNvSpPr/>
          <p:nvPr/>
        </p:nvSpPr>
        <p:spPr>
          <a:xfrm>
            <a:off x="5838171" y="4889559"/>
            <a:ext cx="273761" cy="268403"/>
          </a:xfrm>
          <a:prstGeom prst="ellipse">
            <a:avLst/>
          </a:prstGeom>
          <a:solidFill>
            <a:srgbClr val="000000">
              <a:alpha val="0"/>
            </a:srgbClr>
          </a:solidFill>
          <a:ln w="41275">
            <a:solidFill>
              <a:srgbClr val="FFFFFF"/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5838171" y="4889559"/>
            <a:ext cx="273761" cy="268403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1" name="Shape 27"/>
          <p:cNvSpPr/>
          <p:nvPr/>
        </p:nvSpPr>
        <p:spPr>
          <a:xfrm>
            <a:off x="5929582" y="4940643"/>
            <a:ext cx="164592" cy="166233"/>
          </a:xfrm>
          <a:prstGeom prst="ellipse">
            <a:avLst/>
          </a:prstGeom>
          <a:solidFill>
            <a:srgbClr val="C1CEF6"/>
          </a:solidFill>
          <a:ln/>
        </p:spPr>
      </p:sp>
      <p:sp>
        <p:nvSpPr>
          <p:cNvPr id="32" name="Text 28"/>
          <p:cNvSpPr/>
          <p:nvPr/>
        </p:nvSpPr>
        <p:spPr>
          <a:xfrm>
            <a:off x="5929582" y="4940643"/>
            <a:ext cx="164592" cy="166233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3" name="Text 29"/>
          <p:cNvSpPr/>
          <p:nvPr/>
        </p:nvSpPr>
        <p:spPr>
          <a:xfrm>
            <a:off x="6234654" y="1130783"/>
            <a:ext cx="5480551" cy="83099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4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GitHub Push</a:t>
            </a:r>
            <a:endParaRPr lang="en-US" sz="1600" dirty="0"/>
          </a:p>
        </p:txBody>
      </p:sp>
      <p:sp>
        <p:nvSpPr>
          <p:cNvPr id="34" name="Text 30"/>
          <p:cNvSpPr/>
          <p:nvPr/>
        </p:nvSpPr>
        <p:spPr>
          <a:xfrm>
            <a:off x="5986395" y="1591520"/>
            <a:ext cx="5480551" cy="95410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Push your code to GitHub to maintain version control and enable easy collaboration. This is a crucial step for any software project.</a:t>
            </a:r>
            <a:endParaRPr lang="en-US" sz="1600" dirty="0"/>
          </a:p>
        </p:txBody>
      </p:sp>
      <p:sp>
        <p:nvSpPr>
          <p:cNvPr id="35" name="Text 31"/>
          <p:cNvSpPr/>
          <p:nvPr/>
        </p:nvSpPr>
        <p:spPr>
          <a:xfrm>
            <a:off x="6234654" y="2925828"/>
            <a:ext cx="5480551" cy="83099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4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Docker Image</a:t>
            </a:r>
            <a:endParaRPr lang="en-US" sz="1600" dirty="0"/>
          </a:p>
        </p:txBody>
      </p:sp>
      <p:sp>
        <p:nvSpPr>
          <p:cNvPr id="36" name="Text 32"/>
          <p:cNvSpPr/>
          <p:nvPr/>
        </p:nvSpPr>
        <p:spPr>
          <a:xfrm>
            <a:off x="5967954" y="3365888"/>
            <a:ext cx="5480551" cy="95410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Create a Docker image that exposes port 5000. This prepares your application for deployment on cloud platforms.</a:t>
            </a:r>
            <a:endParaRPr lang="en-US" sz="1600" dirty="0"/>
          </a:p>
        </p:txBody>
      </p:sp>
      <p:sp>
        <p:nvSpPr>
          <p:cNvPr id="37" name="Text 33"/>
          <p:cNvSpPr/>
          <p:nvPr/>
        </p:nvSpPr>
        <p:spPr>
          <a:xfrm>
            <a:off x="6192120" y="4742463"/>
            <a:ext cx="5480551" cy="83099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24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Cloud Deployment</a:t>
            </a:r>
            <a:endParaRPr lang="en-US" sz="1600" dirty="0"/>
          </a:p>
        </p:txBody>
      </p:sp>
      <p:sp>
        <p:nvSpPr>
          <p:cNvPr id="38" name="Text 34"/>
          <p:cNvSpPr/>
          <p:nvPr/>
        </p:nvSpPr>
        <p:spPr>
          <a:xfrm>
            <a:off x="5925420" y="5182523"/>
            <a:ext cx="5480551" cy="95410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4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Deploy your application to cloud services like Render or Streamlit Cloud using their free tiers. This makes your AI assistant accessible online.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gradFill flip="none" rotWithShape="0">
          <a:gsLst>
            <a:gs pos="0">
              <a:srgbClr val="C7D5FC"/>
            </a:gs>
            <a:gs pos="0">
              <a:srgbClr val="D8E1FD"/>
            </a:gs>
            <a:gs pos="0">
              <a:srgbClr val="C7D5FC"/>
            </a:gs>
            <a:gs pos="33000">
              <a:srgbClr val="D5DFFD"/>
            </a:gs>
            <a:gs pos="100000">
              <a:srgbClr val="D8E1FD"/>
            </a:gs>
            <a:gs pos="100000">
              <a:srgbClr val="FFF2C6"/>
            </a:gs>
          </a:gsLst>
          <a:lin ang="72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1097" y="3976921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" name="Text 1"/>
          <p:cNvSpPr/>
          <p:nvPr/>
        </p:nvSpPr>
        <p:spPr>
          <a:xfrm>
            <a:off x="561097" y="3976921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761122" y="3976921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761122" y="3976921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961147" y="3976921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7" name="Text 5"/>
          <p:cNvSpPr/>
          <p:nvPr/>
        </p:nvSpPr>
        <p:spPr>
          <a:xfrm>
            <a:off x="961147" y="3976921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1161172" y="3976921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1161172" y="3976921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357734" y="471744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357734" y="471744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357735" y="4517420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3" name="Text 11"/>
          <p:cNvSpPr/>
          <p:nvPr/>
        </p:nvSpPr>
        <p:spPr>
          <a:xfrm>
            <a:off x="357735" y="4517420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57735" y="4317394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357735" y="4317394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357735" y="4117370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357735" y="4117370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94895" y="5081960"/>
            <a:ext cx="3203700" cy="138366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8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Key Wins &amp; Wrap-Up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7216332" y="3712778"/>
            <a:ext cx="228803" cy="212992"/>
          </a:xfrm>
          <a:prstGeom prst="ellipse">
            <a:avLst/>
          </a:prstGeom>
          <a:solidFill>
            <a:srgbClr val="000000">
              <a:alpha val="0"/>
            </a:srgbClr>
          </a:solidFill>
          <a:ln w="41275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216332" y="3712778"/>
            <a:ext cx="228803" cy="212992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292731" y="3753316"/>
            <a:ext cx="137562" cy="131914"/>
          </a:xfrm>
          <a:prstGeom prst="ellipse">
            <a:avLst/>
          </a:prstGeom>
          <a:solidFill>
            <a:srgbClr val="C1CEF6"/>
          </a:solidFill>
          <a:ln/>
        </p:spPr>
      </p:sp>
      <p:sp>
        <p:nvSpPr>
          <p:cNvPr id="22" name="Text 20"/>
          <p:cNvSpPr/>
          <p:nvPr/>
        </p:nvSpPr>
        <p:spPr>
          <a:xfrm>
            <a:off x="7292731" y="3753316"/>
            <a:ext cx="137562" cy="131914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23" name="Image 0" descr="https://kimi-img.moonshot.cn/pub/slides/slides_tmpl/image/25-08-27-20:04:38-d2nf8lh8bjvh7rlj0afg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2632" y="2970261"/>
            <a:ext cx="2725109" cy="3887739"/>
          </a:xfrm>
          <a:prstGeom prst="rect">
            <a:avLst/>
          </a:prstGeom>
        </p:spPr>
      </p:pic>
      <p:pic>
        <p:nvPicPr>
          <p:cNvPr id="24" name="Image 1" descr="https://kimi-img.moonshot.cn/pub/slides/slides_tmpl/image/25-08-27-20:04:37-d2nf8l98bjvh7rlj0ae0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37740" y="452203"/>
            <a:ext cx="5454259" cy="2518058"/>
          </a:xfrm>
          <a:prstGeom prst="rect">
            <a:avLst/>
          </a:prstGeom>
        </p:spPr>
      </p:pic>
      <p:pic>
        <p:nvPicPr>
          <p:cNvPr id="25" name="Image 2" descr="https://kimi-img.moonshot.cn/pub/slides/slides_tmpl/image/25-08-27-20:04:38-d2nf8lh8bjvh7rlj0af0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373" y="-23596"/>
            <a:ext cx="3942257" cy="3452596"/>
          </a:xfrm>
          <a:prstGeom prst="rect">
            <a:avLst/>
          </a:prstGeom>
        </p:spPr>
      </p:pic>
      <p:sp>
        <p:nvSpPr>
          <p:cNvPr id="26" name="Text 21"/>
          <p:cNvSpPr/>
          <p:nvPr/>
        </p:nvSpPr>
        <p:spPr>
          <a:xfrm>
            <a:off x="7675188" y="3645466"/>
            <a:ext cx="3835409" cy="67710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>
            <a:spAutoFit/>
          </a:bodyPr>
          <a:lstStyle/>
          <a:p>
            <a:pPr algn="just">
              <a:lnSpc>
                <a:spcPct val="100000"/>
              </a:lnSpc>
            </a:pPr>
            <a:r>
              <a:rPr lang="en-US" sz="18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Course Summary</a:t>
            </a:r>
            <a:endParaRPr lang="en-US" sz="1600" dirty="0"/>
          </a:p>
        </p:txBody>
      </p:sp>
      <p:sp>
        <p:nvSpPr>
          <p:cNvPr id="27" name="Text 22"/>
          <p:cNvSpPr/>
          <p:nvPr/>
        </p:nvSpPr>
        <p:spPr>
          <a:xfrm>
            <a:off x="7145655" y="4152900"/>
            <a:ext cx="4477385" cy="188531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>
              <a:lnSpc>
                <a:spcPct val="100000"/>
              </a:lnSpc>
            </a:pPr>
            <a:r>
              <a:rPr lang="en-US" sz="1600" dirty="0">
                <a:solidFill>
                  <a:srgbClr val="606C9A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Congratulations on completing the three-day crash course! You have built a full-stack AI assistant with RAG, tools, agents, and a user-friendly frontend. This is a significant achievement.</a:t>
            </a: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9F1D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https://kimi-img.moonshot.cn/pub/slides/slides_tmpl/image/25-08-27-20:04:37-d2nf8l98bjvh7rlj0ad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20003"/>
            <a:ext cx="12263122" cy="6898006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063240" y="2311248"/>
            <a:ext cx="6295390" cy="2400657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9600" b="1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Thank You</a:t>
            </a:r>
            <a:endParaRPr lang="en-US" sz="1600" dirty="0"/>
          </a:p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4" name="Text 1"/>
          <p:cNvSpPr/>
          <p:nvPr/>
        </p:nvSpPr>
        <p:spPr>
          <a:xfrm>
            <a:off x="7235190" y="4391660"/>
            <a:ext cx="4064000" cy="3683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1800" dirty="0">
                <a:solidFill>
                  <a:srgbClr val="000000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 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8414347" y="638111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8414347" y="638111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8614372" y="638111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8" name="Text 5"/>
          <p:cNvSpPr/>
          <p:nvPr/>
        </p:nvSpPr>
        <p:spPr>
          <a:xfrm>
            <a:off x="8614372" y="638111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814397" y="638111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0" name="Text 7"/>
          <p:cNvSpPr/>
          <p:nvPr/>
        </p:nvSpPr>
        <p:spPr>
          <a:xfrm>
            <a:off x="8814397" y="638111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9014422" y="638111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9"/>
          <p:cNvSpPr/>
          <p:nvPr/>
        </p:nvSpPr>
        <p:spPr>
          <a:xfrm>
            <a:off x="9014422" y="638111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238250" y="789940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4" name="Text 11"/>
          <p:cNvSpPr/>
          <p:nvPr/>
        </p:nvSpPr>
        <p:spPr>
          <a:xfrm>
            <a:off x="1238250" y="789940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5" name="Shape 12"/>
          <p:cNvSpPr/>
          <p:nvPr/>
        </p:nvSpPr>
        <p:spPr>
          <a:xfrm>
            <a:off x="1438275" y="789940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6" name="Text 13"/>
          <p:cNvSpPr/>
          <p:nvPr/>
        </p:nvSpPr>
        <p:spPr>
          <a:xfrm>
            <a:off x="1438275" y="789940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1638300" y="789940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8" name="Text 15"/>
          <p:cNvSpPr/>
          <p:nvPr/>
        </p:nvSpPr>
        <p:spPr>
          <a:xfrm>
            <a:off x="1638300" y="789940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1838325" y="789940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0" name="Text 17"/>
          <p:cNvSpPr/>
          <p:nvPr/>
        </p:nvSpPr>
        <p:spPr>
          <a:xfrm>
            <a:off x="1838325" y="789940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2934970" y="3863913"/>
            <a:ext cx="4064000" cy="4603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Sean Wong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6637020" y="3907257"/>
            <a:ext cx="3035935" cy="460375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00" dirty="0">
                <a:solidFill>
                  <a:srgbClr val="FFFFFF"/>
                </a:solidFill>
                <a:latin typeface="MiSans" pitchFamily="34" charset="0"/>
                <a:ea typeface="MiSans" pitchFamily="34" charset="-122"/>
                <a:cs typeface="MiSans" pitchFamily="34" charset="-120"/>
              </a:rPr>
              <a:t>2025/08/05</a:t>
            </a:r>
            <a:endParaRPr lang="en-US" sz="1600" dirty="0"/>
          </a:p>
        </p:txBody>
      </p:sp>
      <p:pic>
        <p:nvPicPr>
          <p:cNvPr id="23" name="Image 1" descr="https://kimi-img.moonshot.cn/pub/slides/slides_tmpl/image/25-08-27-20:04:32-d2nf8k18bjvh7rlj0a6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1275" y="3907257"/>
            <a:ext cx="1320800" cy="1371600"/>
          </a:xfrm>
          <a:prstGeom prst="rect">
            <a:avLst/>
          </a:prstGeom>
        </p:spPr>
      </p:pic>
      <p:pic>
        <p:nvPicPr>
          <p:cNvPr id="24" name="Image 2" descr="https://kimi-img.moonshot.cn/pub/slides/slides_tmpl/image/25-08-27-20:04:32-d2nf8k18bjvh7rlj0a6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70172" y="1111250"/>
            <a:ext cx="983056" cy="907962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1101725" y="3958057"/>
            <a:ext cx="539750" cy="508001"/>
          </a:xfrm>
          <a:prstGeom prst="ellipse">
            <a:avLst/>
          </a:prstGeom>
          <a:solidFill>
            <a:srgbClr val="B2C4FF"/>
          </a:solidFill>
          <a:ln/>
        </p:spPr>
      </p:sp>
      <p:sp>
        <p:nvSpPr>
          <p:cNvPr id="26" name="Text 21"/>
          <p:cNvSpPr/>
          <p:nvPr/>
        </p:nvSpPr>
        <p:spPr>
          <a:xfrm>
            <a:off x="1101725" y="3958057"/>
            <a:ext cx="539750" cy="508001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pic>
        <p:nvPicPr>
          <p:cNvPr id="27" name="Image 3" descr="https://kimi-img.moonshot.cn/pub/slides/slides_tmpl/image/25-08-27-20:04:32-d2nf8k18bjvh7rlj0a6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87651" y="1515914"/>
            <a:ext cx="731154" cy="676035"/>
          </a:xfrm>
          <a:prstGeom prst="rect">
            <a:avLst/>
          </a:prstGeom>
        </p:spPr>
      </p:pic>
      <p:sp>
        <p:nvSpPr>
          <p:cNvPr id="28" name="Shape 22"/>
          <p:cNvSpPr/>
          <p:nvPr/>
        </p:nvSpPr>
        <p:spPr>
          <a:xfrm>
            <a:off x="10565765" y="5609590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29" name="Text 23"/>
          <p:cNvSpPr/>
          <p:nvPr/>
        </p:nvSpPr>
        <p:spPr>
          <a:xfrm>
            <a:off x="10565765" y="5609590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0" name="Shape 24"/>
          <p:cNvSpPr/>
          <p:nvPr/>
        </p:nvSpPr>
        <p:spPr>
          <a:xfrm>
            <a:off x="10765790" y="5609590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1" name="Text 25"/>
          <p:cNvSpPr/>
          <p:nvPr/>
        </p:nvSpPr>
        <p:spPr>
          <a:xfrm>
            <a:off x="10765790" y="5609590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2" name="Shape 26"/>
          <p:cNvSpPr/>
          <p:nvPr/>
        </p:nvSpPr>
        <p:spPr>
          <a:xfrm>
            <a:off x="10965815" y="5609590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3" name="Text 27"/>
          <p:cNvSpPr/>
          <p:nvPr/>
        </p:nvSpPr>
        <p:spPr>
          <a:xfrm>
            <a:off x="10965815" y="5609590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4" name="Shape 28"/>
          <p:cNvSpPr/>
          <p:nvPr/>
        </p:nvSpPr>
        <p:spPr>
          <a:xfrm>
            <a:off x="11165840" y="5609590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5" name="Text 29"/>
          <p:cNvSpPr/>
          <p:nvPr/>
        </p:nvSpPr>
        <p:spPr>
          <a:xfrm>
            <a:off x="11165840" y="5609590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6" name="Shape 30"/>
          <p:cNvSpPr/>
          <p:nvPr/>
        </p:nvSpPr>
        <p:spPr>
          <a:xfrm>
            <a:off x="523388" y="5746751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7" name="Text 31"/>
          <p:cNvSpPr/>
          <p:nvPr/>
        </p:nvSpPr>
        <p:spPr>
          <a:xfrm>
            <a:off x="523388" y="5746751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38" name="Shape 32"/>
          <p:cNvSpPr/>
          <p:nvPr/>
        </p:nvSpPr>
        <p:spPr>
          <a:xfrm>
            <a:off x="523388" y="5546725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39" name="Text 33"/>
          <p:cNvSpPr/>
          <p:nvPr/>
        </p:nvSpPr>
        <p:spPr>
          <a:xfrm>
            <a:off x="523388" y="5546725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0" name="Shape 34"/>
          <p:cNvSpPr/>
          <p:nvPr/>
        </p:nvSpPr>
        <p:spPr>
          <a:xfrm>
            <a:off x="523388" y="5346700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1" name="Text 35"/>
          <p:cNvSpPr/>
          <p:nvPr/>
        </p:nvSpPr>
        <p:spPr>
          <a:xfrm>
            <a:off x="523388" y="5346700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2" name="Shape 36"/>
          <p:cNvSpPr/>
          <p:nvPr/>
        </p:nvSpPr>
        <p:spPr>
          <a:xfrm>
            <a:off x="523388" y="514667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3" name="Text 37"/>
          <p:cNvSpPr/>
          <p:nvPr/>
        </p:nvSpPr>
        <p:spPr>
          <a:xfrm>
            <a:off x="523388" y="514667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4" name="Shape 38"/>
          <p:cNvSpPr/>
          <p:nvPr/>
        </p:nvSpPr>
        <p:spPr>
          <a:xfrm>
            <a:off x="523388" y="653986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5" name="Text 39"/>
          <p:cNvSpPr/>
          <p:nvPr/>
        </p:nvSpPr>
        <p:spPr>
          <a:xfrm>
            <a:off x="523388" y="653986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6" name="Shape 40"/>
          <p:cNvSpPr/>
          <p:nvPr/>
        </p:nvSpPr>
        <p:spPr>
          <a:xfrm>
            <a:off x="523388" y="6339841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7" name="Text 41"/>
          <p:cNvSpPr/>
          <p:nvPr/>
        </p:nvSpPr>
        <p:spPr>
          <a:xfrm>
            <a:off x="523388" y="6339841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48" name="Shape 42"/>
          <p:cNvSpPr/>
          <p:nvPr/>
        </p:nvSpPr>
        <p:spPr>
          <a:xfrm>
            <a:off x="523388" y="613981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49" name="Text 43"/>
          <p:cNvSpPr/>
          <p:nvPr/>
        </p:nvSpPr>
        <p:spPr>
          <a:xfrm>
            <a:off x="523388" y="613981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0" name="Shape 44"/>
          <p:cNvSpPr/>
          <p:nvPr/>
        </p:nvSpPr>
        <p:spPr>
          <a:xfrm>
            <a:off x="523388" y="5939792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1" name="Text 45"/>
          <p:cNvSpPr/>
          <p:nvPr/>
        </p:nvSpPr>
        <p:spPr>
          <a:xfrm>
            <a:off x="523388" y="5939792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2" name="Shape 46"/>
          <p:cNvSpPr/>
          <p:nvPr/>
        </p:nvSpPr>
        <p:spPr>
          <a:xfrm>
            <a:off x="11468678" y="304186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3" name="Text 47"/>
          <p:cNvSpPr/>
          <p:nvPr/>
        </p:nvSpPr>
        <p:spPr>
          <a:xfrm>
            <a:off x="11468678" y="304186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4" name="Shape 48"/>
          <p:cNvSpPr/>
          <p:nvPr/>
        </p:nvSpPr>
        <p:spPr>
          <a:xfrm>
            <a:off x="11468678" y="2841841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5" name="Text 49"/>
          <p:cNvSpPr/>
          <p:nvPr/>
        </p:nvSpPr>
        <p:spPr>
          <a:xfrm>
            <a:off x="11468678" y="2841841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6" name="Shape 50"/>
          <p:cNvSpPr/>
          <p:nvPr/>
        </p:nvSpPr>
        <p:spPr>
          <a:xfrm>
            <a:off x="11468678" y="2641816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7" name="Text 51"/>
          <p:cNvSpPr/>
          <p:nvPr/>
        </p:nvSpPr>
        <p:spPr>
          <a:xfrm>
            <a:off x="11468678" y="2641816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58" name="Shape 52"/>
          <p:cNvSpPr/>
          <p:nvPr/>
        </p:nvSpPr>
        <p:spPr>
          <a:xfrm>
            <a:off x="11468678" y="2441792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59" name="Text 53"/>
          <p:cNvSpPr/>
          <p:nvPr/>
        </p:nvSpPr>
        <p:spPr>
          <a:xfrm>
            <a:off x="11468678" y="2441792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0" name="Shape 54"/>
          <p:cNvSpPr/>
          <p:nvPr/>
        </p:nvSpPr>
        <p:spPr>
          <a:xfrm>
            <a:off x="11468678" y="3834983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1" name="Text 55"/>
          <p:cNvSpPr/>
          <p:nvPr/>
        </p:nvSpPr>
        <p:spPr>
          <a:xfrm>
            <a:off x="11468678" y="3834983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2" name="Shape 56"/>
          <p:cNvSpPr/>
          <p:nvPr/>
        </p:nvSpPr>
        <p:spPr>
          <a:xfrm>
            <a:off x="11468678" y="3634957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3" name="Text 57"/>
          <p:cNvSpPr/>
          <p:nvPr/>
        </p:nvSpPr>
        <p:spPr>
          <a:xfrm>
            <a:off x="11468678" y="3634957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4" name="Shape 58"/>
          <p:cNvSpPr/>
          <p:nvPr/>
        </p:nvSpPr>
        <p:spPr>
          <a:xfrm>
            <a:off x="11468678" y="3434932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5" name="Text 59"/>
          <p:cNvSpPr/>
          <p:nvPr/>
        </p:nvSpPr>
        <p:spPr>
          <a:xfrm>
            <a:off x="11468678" y="3434932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  <p:sp>
        <p:nvSpPr>
          <p:cNvPr id="66" name="Shape 60"/>
          <p:cNvSpPr/>
          <p:nvPr/>
        </p:nvSpPr>
        <p:spPr>
          <a:xfrm>
            <a:off x="11468678" y="3234908"/>
            <a:ext cx="133350" cy="137160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67" name="Text 61"/>
          <p:cNvSpPr/>
          <p:nvPr/>
        </p:nvSpPr>
        <p:spPr>
          <a:xfrm>
            <a:off x="11468678" y="3234908"/>
            <a:ext cx="133350" cy="137160"/>
          </a:xfrm>
          <a:prstGeom prst="rect">
            <a:avLst/>
          </a:prstGeom>
          <a:noFill/>
          <a:ln/>
        </p:spPr>
        <p:txBody>
          <a:bodyPr wrap="square" lIns="45720" tIns="91440" rIns="91440" bIns="45720" rtlCol="0" anchor="ctr"/>
          <a:lstStyle/>
          <a:p>
            <a:pPr>
              <a:lnSpc>
                <a:spcPct val="100000"/>
              </a:lnSpc>
            </a:pPr>
            <a:endParaRPr lang="en-US" sz="1600" dirty="0"/>
          </a:p>
        </p:txBody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Custom Theme">
  <a:themeElements>
    <a:clrScheme name="Custom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990</Words>
  <Application>Microsoft Office PowerPoint</Application>
  <PresentationFormat>Widescreen</PresentationFormat>
  <Paragraphs>122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MiSans</vt:lpstr>
      <vt:lpstr>Custom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Moonshot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3 Frontend &amp; Deploy</dc:title>
  <dc:subject>Day 3 Frontend &amp; Deploy</dc:subject>
  <dc:creator>Kimi</dc:creator>
  <cp:lastModifiedBy>Sean</cp:lastModifiedBy>
  <cp:revision>3</cp:revision>
  <dcterms:created xsi:type="dcterms:W3CDTF">2025-12-06T03:28:29Z</dcterms:created>
  <dcterms:modified xsi:type="dcterms:W3CDTF">2025-12-06T03:29:09Z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{"Label":"Day 3 Frontend &amp; Deploy","ContentProducer":"001191110108MACG2KBH8F10000","ProduceID":"d4pq4uos8jdr26u08i5g","ReservedCode1":"","ContentPropagator":"001191110108MACG2KBH8F20000","PropagateID":"d4pq4uos8jdr26u08i5g","ReservedCode2":""}</vt:lpwstr>
  </property>
</Properties>
</file>