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30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5330" y="1568117"/>
            <a:ext cx="6264818" cy="1759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2: RAG, Tools &amp; Agents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174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5860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15860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5863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5863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5865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5865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75868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75868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2631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42631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2634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62634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82636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82636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02639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02639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18365" y="3578388"/>
            <a:ext cx="40640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318365" y="4213388"/>
            <a:ext cx="30359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8" y="1412240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946" y="439166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273269" y="2275839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273269" y="2275839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925" y="5073480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1511842" y="12193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1511842" y="12193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1511842" y="101933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1511842" y="101933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1511842" y="8193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1511842" y="8193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511842" y="61928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511842" y="61928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511842" y="201247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11511842" y="201247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11511842" y="18124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11511842" y="18124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11511842" y="16124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11511842" y="16124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11511842" y="14124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11511842" y="14124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318177" y="57251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318177" y="57251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318178" y="55251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318178" y="55251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318178" y="53251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318178" y="53251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318178" y="512508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318178" y="512508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318177" y="65182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318177" y="65182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318178" y="63182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318178" y="63182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318178" y="61182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318178" y="61182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318178" y="591820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318178" y="591820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FFF2C6"/>
            </a:gs>
            <a:gs pos="74000">
              <a:srgbClr val="C7D5FC"/>
            </a:gs>
            <a:gs pos="83000">
              <a:srgbClr val="D8E1FD"/>
            </a:gs>
            <a:gs pos="100000">
              <a:srgbClr val="D8E1FD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2433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72433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436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436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438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12438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2441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2441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3191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83191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193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3193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96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96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3198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3198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92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3192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194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3194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197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3197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199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3199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5662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45662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665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65665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5667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85667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670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670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6036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46036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6038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6038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6041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86041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6043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6043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7302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7302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07304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07304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7307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27307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47309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47309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3191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3191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3193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3193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3196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23196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198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43198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2388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2388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2390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22390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42393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42393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62395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62395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0519" y="17356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20519" y="17356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0519" y="153559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20519" y="153559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0519" y="133557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820519" y="133557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0520" y="11355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820520" y="11355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4" name="Image 0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" y="4587240"/>
            <a:ext cx="152400" cy="152400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1052729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3"/>
          <p:cNvSpPr/>
          <p:nvPr/>
        </p:nvSpPr>
        <p:spPr>
          <a:xfrm>
            <a:off x="1052729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072731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/>
          <p:nvPr/>
        </p:nvSpPr>
        <p:spPr>
          <a:xfrm>
            <a:off x="1072731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1092734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/>
          <p:nvPr/>
        </p:nvSpPr>
        <p:spPr>
          <a:xfrm>
            <a:off x="1092734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1112736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1112736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11336120" y="654130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/>
          <p:nvPr/>
        </p:nvSpPr>
        <p:spPr>
          <a:xfrm>
            <a:off x="11336120" y="654130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11336120" y="63412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/>
          <p:nvPr/>
        </p:nvSpPr>
        <p:spPr>
          <a:xfrm>
            <a:off x="11336120" y="63412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11336120" y="614125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/>
          <p:nvPr/>
        </p:nvSpPr>
        <p:spPr>
          <a:xfrm>
            <a:off x="11336120" y="614125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11336120" y="59412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7"/>
          <p:cNvSpPr/>
          <p:nvPr/>
        </p:nvSpPr>
        <p:spPr>
          <a:xfrm>
            <a:off x="11336120" y="59412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1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204" y="4909876"/>
            <a:ext cx="1320800" cy="1371600"/>
          </a:xfrm>
          <a:prstGeom prst="rect">
            <a:avLst/>
          </a:prstGeom>
        </p:spPr>
      </p:pic>
      <p:pic>
        <p:nvPicPr>
          <p:cNvPr id="92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995" y="1202055"/>
            <a:ext cx="1041400" cy="962025"/>
          </a:xfrm>
          <a:prstGeom prst="rect">
            <a:avLst/>
          </a:prstGeom>
        </p:spPr>
      </p:pic>
      <p:sp>
        <p:nvSpPr>
          <p:cNvPr id="93" name="Shape 88"/>
          <p:cNvSpPr/>
          <p:nvPr/>
        </p:nvSpPr>
        <p:spPr>
          <a:xfrm>
            <a:off x="10762111" y="4770810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94" name="Text 89"/>
          <p:cNvSpPr/>
          <p:nvPr/>
        </p:nvSpPr>
        <p:spPr>
          <a:xfrm>
            <a:off x="10762111" y="4770810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5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66" y="1735624"/>
            <a:ext cx="731154" cy="676035"/>
          </a:xfrm>
          <a:prstGeom prst="rect">
            <a:avLst/>
          </a:prstGeom>
        </p:spPr>
      </p:pic>
      <p:sp>
        <p:nvSpPr>
          <p:cNvPr id="96" name="Text 90"/>
          <p:cNvSpPr/>
          <p:nvPr/>
        </p:nvSpPr>
        <p:spPr>
          <a:xfrm>
            <a:off x="1010920" y="2968625"/>
            <a:ext cx="354393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97" name="Text 91"/>
          <p:cNvSpPr/>
          <p:nvPr/>
        </p:nvSpPr>
        <p:spPr>
          <a:xfrm>
            <a:off x="6670914" y="728660"/>
            <a:ext cx="1041400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98" name="Text 92"/>
          <p:cNvSpPr/>
          <p:nvPr/>
        </p:nvSpPr>
        <p:spPr>
          <a:xfrm>
            <a:off x="4100195" y="1610360"/>
            <a:ext cx="35788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Recap</a:t>
            </a:r>
            <a:endParaRPr lang="en-US" sz="1600" dirty="0"/>
          </a:p>
        </p:txBody>
      </p:sp>
      <p:sp>
        <p:nvSpPr>
          <p:cNvPr id="99" name="Text 93"/>
          <p:cNvSpPr/>
          <p:nvPr/>
        </p:nvSpPr>
        <p:spPr>
          <a:xfrm>
            <a:off x="10260460" y="728660"/>
            <a:ext cx="1418033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8164830" y="1673225"/>
            <a:ext cx="351282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Core</a:t>
            </a:r>
            <a:endParaRPr lang="en-US" sz="1600" dirty="0"/>
          </a:p>
        </p:txBody>
      </p:sp>
      <p:sp>
        <p:nvSpPr>
          <p:cNvPr id="101" name="Text 95"/>
          <p:cNvSpPr/>
          <p:nvPr/>
        </p:nvSpPr>
        <p:spPr>
          <a:xfrm>
            <a:off x="6666865" y="2537460"/>
            <a:ext cx="175196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02" name="Text 96"/>
          <p:cNvSpPr/>
          <p:nvPr/>
        </p:nvSpPr>
        <p:spPr>
          <a:xfrm>
            <a:off x="4100195" y="3418840"/>
            <a:ext cx="360807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&amp; Agents</a:t>
            </a:r>
            <a:endParaRPr lang="en-US" sz="1600" dirty="0"/>
          </a:p>
        </p:txBody>
      </p:sp>
      <p:sp>
        <p:nvSpPr>
          <p:cNvPr id="103" name="Text 97"/>
          <p:cNvSpPr/>
          <p:nvPr/>
        </p:nvSpPr>
        <p:spPr>
          <a:xfrm>
            <a:off x="10260330" y="2537460"/>
            <a:ext cx="166814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04" name="Text 98"/>
          <p:cNvSpPr/>
          <p:nvPr/>
        </p:nvSpPr>
        <p:spPr>
          <a:xfrm>
            <a:off x="8164830" y="3408680"/>
            <a:ext cx="351282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&amp; Pitfalls</a:t>
            </a:r>
            <a:endParaRPr lang="en-US" sz="1600" dirty="0"/>
          </a:p>
        </p:txBody>
      </p:sp>
      <p:sp>
        <p:nvSpPr>
          <p:cNvPr id="105" name="Text 99"/>
          <p:cNvSpPr/>
          <p:nvPr/>
        </p:nvSpPr>
        <p:spPr>
          <a:xfrm>
            <a:off x="6675755" y="4427220"/>
            <a:ext cx="1752600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06" name="Text 100"/>
          <p:cNvSpPr/>
          <p:nvPr/>
        </p:nvSpPr>
        <p:spPr>
          <a:xfrm>
            <a:off x="4137660" y="5234940"/>
            <a:ext cx="360807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Wrap-up &amp; Forward Look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Recap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0">
          <a:gsLst>
            <a:gs pos="0">
              <a:srgbClr val="FFF2C6"/>
            </a:gs>
            <a:gs pos="51000">
              <a:srgbClr val="D8E1FD"/>
            </a:gs>
            <a:gs pos="83000">
              <a:srgbClr val="D8E1FD"/>
            </a:gs>
            <a:gs pos="99000">
              <a:srgbClr val="C7D5FC"/>
            </a:gs>
            <a:gs pos="100000">
              <a:srgbClr val="C7D5FC"/>
            </a:gs>
          </a:gsLst>
          <a:lin ang="7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43-d2nf8mp8bjvh7rlj0a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611"/>
            <a:ext cx="51435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39718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939718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39743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139743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39768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339768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39793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539793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36356" y="10642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736356" y="10642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36356" y="8641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36356" y="8641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36356" y="66414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736356" y="66414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36356" y="4641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736356" y="4641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04560" y="530225"/>
            <a:ext cx="5942330" cy="777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2 Goals &amp; Agenda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09664" y="4946665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09664" y="4946665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86063" y="4987203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786063" y="4987203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09664" y="147773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09664" y="147773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86063" y="151827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5786063" y="151827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09664" y="3201496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09664" y="3201496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86063" y="3242034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1" name="Text 28"/>
          <p:cNvSpPr/>
          <p:nvPr/>
        </p:nvSpPr>
        <p:spPr>
          <a:xfrm>
            <a:off x="5786063" y="3242034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002020" y="1406525"/>
            <a:ext cx="587184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Welcome Learners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000115" y="1852930"/>
            <a:ext cx="594233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Welcome back to Day 2 of our Gemini API and LangChain course. Today, we will dive deeper into building intelligent AI applications.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00115" y="3134995"/>
            <a:ext cx="587438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Recap Day 1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938520" y="3534410"/>
            <a:ext cx="594233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 Day 1, we successfully loaded documents, chunked them, generated embeddings, and created a vector store. This foundation will support today’s advanced features.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000115" y="4879975"/>
            <a:ext cx="587438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938520" y="5279390"/>
            <a:ext cx="594233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Today, we aim to understand RAG, build a RAG chain, integrate tools, create agents, and test AI queries with sources. Let’s get started!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0">
          <a:gsLst>
            <a:gs pos="0">
              <a:srgbClr val="D9E2FE"/>
            </a:gs>
            <a:gs pos="28000">
              <a:srgbClr val="D9E2FE"/>
            </a:gs>
            <a:gs pos="59000">
              <a:srgbClr val="FFF3CC"/>
            </a:gs>
            <a:gs pos="88000">
              <a:srgbClr val="D9E2FE"/>
            </a:gs>
            <a:gs pos="99000">
              <a:srgbClr val="C7D5FC"/>
            </a:gs>
            <a:gs pos="100000">
              <a:srgbClr val="C7D5FC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8234" y="565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48234" y="565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8259" y="565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8259" y="565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48284" y="565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48284" y="565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48309" y="565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48309" y="565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4872" y="13056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44872" y="13056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4872" y="110563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44872" y="110563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4872" y="9056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4872" y="9056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4872" y="70558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44872" y="70558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3460" y="772795"/>
            <a:ext cx="8935720" cy="1550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1 Milestone Recap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3199" y="4902251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3199" y="4902251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9598" y="4942789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89598" y="4942789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65133" y="175188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133" y="175188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41532" y="179242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6641532" y="179242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39-d2nf8lp8bjvh7rlj0ag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755" y="4020050"/>
            <a:ext cx="4282212" cy="2251414"/>
          </a:xfrm>
          <a:prstGeom prst="rect">
            <a:avLst/>
          </a:prstGeom>
        </p:spPr>
      </p:pic>
      <p:pic>
        <p:nvPicPr>
          <p:cNvPr id="28" name="Image 1" descr="https://kimi-img.moonshot.cn/pub/slides/slides_tmpl/image/25-08-27-20:04:39-d2nf8lp8bjvh7rlj0ah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744" y="2057506"/>
            <a:ext cx="5223220" cy="237247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23735" y="1685290"/>
            <a:ext cx="477710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 Loading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060565" y="2084705"/>
            <a:ext cx="4777105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loaded various document formats like PDFs and TXT files into LangChain Documents, setting the stage for further processing.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472055" y="4834939"/>
            <a:ext cx="5186654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&amp; Embeddings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508760" y="5234940"/>
            <a:ext cx="555117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Using RecursiveCharacterTextSplitter, we chunked documents with overlap. Then, we embedded these chunks using Gemini, creating a semantic representation.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Core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0">
          <a:gsLst>
            <a:gs pos="0">
              <a:srgbClr val="C7D5FC"/>
            </a:gs>
            <a:gs pos="42000">
              <a:srgbClr val="C7D5FC"/>
            </a:gs>
            <a:gs pos="56000">
              <a:srgbClr val="D8E1FD"/>
            </a:gs>
            <a:gs pos="100000">
              <a:srgbClr val="D8E1FD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8481" y="313589"/>
            <a:ext cx="1228549" cy="1077219"/>
          </a:xfrm>
          <a:prstGeom prst="ellipse">
            <a:avLst/>
          </a:prstGeom>
          <a:solidFill>
            <a:srgbClr val="F9F1DC"/>
          </a:solidFill>
          <a:ln/>
        </p:spPr>
      </p:sp>
      <p:sp>
        <p:nvSpPr>
          <p:cNvPr id="3" name="Text 1"/>
          <p:cNvSpPr/>
          <p:nvPr/>
        </p:nvSpPr>
        <p:spPr>
          <a:xfrm>
            <a:off x="6208481" y="313589"/>
            <a:ext cx="1228549" cy="107721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1622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31622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647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31647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1672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31672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1697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1697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260" y="112198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8260" y="112198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8260" y="92195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8260" y="92195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8260" y="72193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8260" y="72193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8260" y="5219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8260" y="5219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" y="563245"/>
            <a:ext cx="6124575" cy="1533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Is Retrieval-Augmented Generation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442" y="167069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42" y="167069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841" y="171123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4" name="Text 22"/>
          <p:cNvSpPr/>
          <p:nvPr/>
        </p:nvSpPr>
        <p:spPr>
          <a:xfrm>
            <a:off x="568841" y="171123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2442" y="3088283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442" y="3088283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8841" y="3128821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8" name="Text 26"/>
          <p:cNvSpPr/>
          <p:nvPr/>
        </p:nvSpPr>
        <p:spPr>
          <a:xfrm>
            <a:off x="568841" y="3128821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22757" y="4317600"/>
            <a:ext cx="1827211" cy="1688201"/>
          </a:xfrm>
          <a:prstGeom prst="ellipse">
            <a:avLst/>
          </a:prstGeom>
          <a:solidFill>
            <a:srgbClr val="C7D5FC"/>
          </a:solidFill>
          <a:ln/>
        </p:spPr>
      </p:sp>
      <p:sp>
        <p:nvSpPr>
          <p:cNvPr id="30" name="Text 28"/>
          <p:cNvSpPr/>
          <p:nvPr/>
        </p:nvSpPr>
        <p:spPr>
          <a:xfrm>
            <a:off x="6822757" y="4317600"/>
            <a:ext cx="1827211" cy="16882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0" descr="https://kimi-img.moonshot.cn/pub/slides/slides_tmpl/image/25-08-27-20:04:50-d2nf8oh8bjvh7rlj0b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108" y="-582930"/>
            <a:ext cx="4732102" cy="49000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92442" y="447927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442" y="447927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68841" y="451981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5" name="Text 32"/>
          <p:cNvSpPr/>
          <p:nvPr/>
        </p:nvSpPr>
        <p:spPr>
          <a:xfrm>
            <a:off x="568841" y="451981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92442" y="566009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442" y="566009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68841" y="570062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9" name="Text 36"/>
          <p:cNvSpPr/>
          <p:nvPr/>
        </p:nvSpPr>
        <p:spPr>
          <a:xfrm>
            <a:off x="568841" y="570062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51298" y="1603385"/>
            <a:ext cx="583489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88060" y="2003425"/>
            <a:ext cx="688213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Retrieval-Augmented Generation (RAG) combines retrieval of relevant chunks from a vector store with generation by an LLM to produce accurate answers.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51298" y="3020971"/>
            <a:ext cx="5834892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65200" y="3351530"/>
            <a:ext cx="688213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involves retrieving relevant chunks from the vector store, feeding these chunks into the LLM, and generating an answer with context.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51298" y="4411966"/>
            <a:ext cx="7516841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88060" y="4812030"/>
            <a:ext cx="10405745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offers accurate answers, scales to large corpora, and requires no fine-tuning, making it efficient and practical for various applications.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51298" y="5592778"/>
            <a:ext cx="769867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88060" y="5993130"/>
            <a:ext cx="10405745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Visualize the RAG process with a flowchart: User Query → Retriever → LLM → Answer. This pipeline ensures context-aware responses.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4-d2nf8kh8bjvh7rlj0a9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1213485"/>
            <a:ext cx="6986905" cy="4730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5117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5117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5142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45142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5167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45167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192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45192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1754" y="14136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41754" y="14136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1754" y="121363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341754" y="121363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1754" y="10136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1754" y="10136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1754" y="81358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41754" y="81358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1505" y="880110"/>
            <a:ext cx="3765550" cy="1651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the RAG Chain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0210" y="2501265"/>
            <a:ext cx="273685" cy="332740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0210" y="2501265"/>
            <a:ext cx="273685" cy="3327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1595" y="2564594"/>
            <a:ext cx="164546" cy="206079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01595" y="2564594"/>
            <a:ext cx="164546" cy="20607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4" name="Image 1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441394" y="2324796"/>
            <a:ext cx="6782099" cy="453320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60116" y="2993310"/>
            <a:ext cx="7931884" cy="213351"/>
          </a:xfrm>
          <a:prstGeom prst="rect">
            <a:avLst/>
          </a:prstGeom>
          <a:solidFill>
            <a:srgbClr val="F9F1DC"/>
          </a:solidFill>
          <a:ln/>
        </p:spPr>
      </p:sp>
      <p:sp>
        <p:nvSpPr>
          <p:cNvPr id="26" name="Text 22"/>
          <p:cNvSpPr/>
          <p:nvPr/>
        </p:nvSpPr>
        <p:spPr>
          <a:xfrm>
            <a:off x="4260116" y="2993310"/>
            <a:ext cx="7931884" cy="21335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79780" y="2604770"/>
            <a:ext cx="3745865" cy="876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Chain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62635" y="3235325"/>
            <a:ext cx="3765550" cy="27082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a Chroma retriever, a Gemini LLM, and a prompt template into a LangChain RetrievalQA chain for seamless context retrieval and generation.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&amp; Agents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09900" y="1747520"/>
            <a:ext cx="6782099" cy="45332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13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2613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615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615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618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2618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620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2620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2769" y="106468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22769" y="106468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769" y="86466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2769" y="86466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769" y="66463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22769" y="66463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2769" y="4646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22769" y="4646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2785" y="474345"/>
            <a:ext cx="10713720" cy="1657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Extending AI with Tools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80705" y="127787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80705" y="127787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72116" y="132896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972116" y="132896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80705" y="307292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80705" y="307292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72116" y="312400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5972116" y="312400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kimi-img.moonshot.cn/pub/slides/slides_tmpl/image/25-08-27-20:04:43-d2nf8mp8bjvh7rlj0an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75" y="1870714"/>
            <a:ext cx="4406868" cy="453320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838171" y="488955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838171" y="488955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929582" y="494064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5929582" y="494064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34654" y="1130783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 Definition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986395" y="1591520"/>
            <a:ext cx="548055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 Tools extend AI capabilities by integrating callable functions like calculators, web search APIs, and translation utilities.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234654" y="2925828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 Class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967954" y="3365888"/>
            <a:ext cx="548055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tool in LangChain has a name, function, and description. Proper descriptions are crucial for the LLM to select the right tool autonomously.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192120" y="4742463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925420" y="5182523"/>
            <a:ext cx="5480551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example, a calculator tool can perform complex calculations, enhancing the LLM’s ability to handle numerical queries.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0">
          <a:gsLst>
            <a:gs pos="0">
              <a:srgbClr val="D8E1FD"/>
            </a:gs>
            <a:gs pos="0">
              <a:srgbClr val="C7D5FC"/>
            </a:gs>
            <a:gs pos="5000">
              <a:srgbClr val="FFF2C6"/>
            </a:gs>
            <a:gs pos="92000">
              <a:srgbClr val="C7D5FC"/>
            </a:gs>
            <a:gs pos="100000">
              <a:srgbClr val="C7D5F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066" y="4265463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0066" y="4265463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6465" y="4306001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5" name="Text 3"/>
          <p:cNvSpPr/>
          <p:nvPr/>
        </p:nvSpPr>
        <p:spPr>
          <a:xfrm>
            <a:off x="526465" y="4306001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6682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16682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6707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16707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732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732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16757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757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3320" y="116999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3320" y="116999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3320" y="96997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3320" y="96997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3320" y="7699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3320" y="7699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3320" y="56992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3320" y="56992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05" y="636270"/>
            <a:ext cx="4902835" cy="19132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Agent-Driven Multi-Step Reasoning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2145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82145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2148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02148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22150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22150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2153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2153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9006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9006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69031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69031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69056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369056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69081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569081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3749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53749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3751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73751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3754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93754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3756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13756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68503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68503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88506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88506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08508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08508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8511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8511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4695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24695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44697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44697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4700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64700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84702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84702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9450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39450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9452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459452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79455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79455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99457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99457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62984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962984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163009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7163009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363034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363034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563059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7563059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1053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1053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055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631055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51058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51058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71060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71060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61553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861553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81556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881556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01558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901558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21561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921561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763085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7763085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963110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7963110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163135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8163135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363160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8363160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0331569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331569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10531594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531594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10731619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731619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10931644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10931644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1" name="Shape 109"/>
          <p:cNvSpPr/>
          <p:nvPr/>
        </p:nvSpPr>
        <p:spPr>
          <a:xfrm>
            <a:off x="947911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/>
          <p:nvPr/>
        </p:nvSpPr>
        <p:spPr>
          <a:xfrm>
            <a:off x="947911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967914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967914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987916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987916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007919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7919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9" name="Image 0" descr="https://kimi-img.moonshot.cn/pub/slides/slides_tmpl/image/25-08-27-20:04:41-d2nf8m98bjvh7rlj0aj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490949"/>
            <a:ext cx="5145200" cy="4421711"/>
          </a:xfrm>
          <a:prstGeom prst="rect">
            <a:avLst/>
          </a:prstGeom>
        </p:spPr>
      </p:pic>
      <p:pic>
        <p:nvPicPr>
          <p:cNvPr id="120" name="Image 1" descr="https://kimi-img.moonshot.cn/pub/slides/slides_tmpl/image/25-08-27-20:04:41-d2nf8m98bjvh7rlj0ak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07" y="1848849"/>
            <a:ext cx="4769518" cy="2081664"/>
          </a:xfrm>
          <a:prstGeom prst="rect">
            <a:avLst/>
          </a:prstGeom>
        </p:spPr>
      </p:pic>
      <p:sp>
        <p:nvSpPr>
          <p:cNvPr id="121" name="Shape 117"/>
          <p:cNvSpPr/>
          <p:nvPr/>
        </p:nvSpPr>
        <p:spPr>
          <a:xfrm>
            <a:off x="436451" y="5540041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436451" y="5540041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3" name="Shape 119"/>
          <p:cNvSpPr/>
          <p:nvPr/>
        </p:nvSpPr>
        <p:spPr>
          <a:xfrm>
            <a:off x="512850" y="5580579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124" name="Text 120"/>
          <p:cNvSpPr/>
          <p:nvPr/>
        </p:nvSpPr>
        <p:spPr>
          <a:xfrm>
            <a:off x="512850" y="5580579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5" name="Text 121"/>
          <p:cNvSpPr/>
          <p:nvPr/>
        </p:nvSpPr>
        <p:spPr>
          <a:xfrm>
            <a:off x="749935" y="4203065"/>
            <a:ext cx="971486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 Concept</a:t>
            </a:r>
            <a:endParaRPr lang="en-US" sz="1600" dirty="0"/>
          </a:p>
        </p:txBody>
      </p:sp>
      <p:sp>
        <p:nvSpPr>
          <p:cNvPr id="126" name="Text 122"/>
          <p:cNvSpPr/>
          <p:nvPr/>
        </p:nvSpPr>
        <p:spPr>
          <a:xfrm>
            <a:off x="817245" y="4526280"/>
            <a:ext cx="11090910" cy="845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Agents combine LLMs, tools, and reasoning to autonomously choose and execute tools based on the query, enabling multi-step problem-solving.</a:t>
            </a:r>
            <a:endParaRPr lang="en-US" sz="1600" dirty="0"/>
          </a:p>
        </p:txBody>
      </p:sp>
      <p:sp>
        <p:nvSpPr>
          <p:cNvPr id="127" name="Text 123"/>
          <p:cNvSpPr/>
          <p:nvPr/>
        </p:nvSpPr>
        <p:spPr>
          <a:xfrm>
            <a:off x="736600" y="5539740"/>
            <a:ext cx="9714865" cy="539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 Types</a:t>
            </a:r>
            <a:endParaRPr lang="en-US" sz="1600" dirty="0"/>
          </a:p>
        </p:txBody>
      </p:sp>
      <p:sp>
        <p:nvSpPr>
          <p:cNvPr id="128" name="Text 124"/>
          <p:cNvSpPr/>
          <p:nvPr/>
        </p:nvSpPr>
        <p:spPr>
          <a:xfrm>
            <a:off x="829310" y="5834380"/>
            <a:ext cx="11090275" cy="5163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 offers agent types like ZERO_SHOT_REACT_DESCRIPTION and SELF_ASK_WITH_SEARCH, each tailored for different reasoning strategies.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0">
          <a:gsLst>
            <a:gs pos="0">
              <a:srgbClr val="F9F1DC">
                <a:alpha val="38000"/>
              </a:srgbClr>
            </a:gs>
            <a:gs pos="74000">
              <a:srgbClr val="B2C4FF"/>
            </a:gs>
            <a:gs pos="83000">
              <a:srgbClr val="B2C4FF"/>
            </a:gs>
            <a:gs pos="99000">
              <a:srgbClr val="C7D5FC"/>
            </a:gs>
            <a:gs pos="100000">
              <a:srgbClr val="C7D5FC"/>
            </a:gs>
          </a:gsLst>
          <a:lin ang="7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6720"/>
            <a:ext cx="12192000" cy="728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80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6780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783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6783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6785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6785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6788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6788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4445" y="11593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64445" y="11593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4445" y="95936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4445" y="95936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4445" y="7593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64445" y="7593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4445" y="55932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64445" y="55932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719690" y="11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719690" y="11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719690" y="90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719690" y="90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719690" y="7049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11719690" y="7049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719690" y="5049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11719690" y="5049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719690" y="18981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1719690" y="18981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19690" y="1698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11719690" y="1698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719690" y="14980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1719690" y="14980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719690" y="12980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1719690" y="12980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5" name="Image 1" descr="https://kimi-img.moonshot.cn/pub/slides/slides_tmpl/image/25-08-27-20:04:48-d2nf8o18bjvh7rlj0b2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158" y="4114887"/>
            <a:ext cx="2074038" cy="2261184"/>
          </a:xfrm>
          <a:prstGeom prst="rect">
            <a:avLst/>
          </a:prstGeom>
        </p:spPr>
      </p:pic>
      <p:pic>
        <p:nvPicPr>
          <p:cNvPr id="36" name="Image 2" descr="https://kimi-img.moonshot.cn/pub/slides/slides_tmpl/image/25-08-27-20:04:48-d2nf8o18bjvh7rlj0b3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831" y="3745013"/>
            <a:ext cx="2074038" cy="2631057"/>
          </a:xfrm>
          <a:prstGeom prst="rect">
            <a:avLst/>
          </a:prstGeom>
        </p:spPr>
      </p:pic>
      <p:pic>
        <p:nvPicPr>
          <p:cNvPr id="37" name="Image 3" descr="https://kimi-img.moonshot.cn/pub/slides/slides_tmpl/image/25-08-27-20:04:48-d2nf8o18bjvh7rlj0b3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067" y="904984"/>
            <a:ext cx="2074037" cy="309830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01345" y="556260"/>
            <a:ext cx="6316345" cy="2004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Demo RAG Meets Agent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523992" y="2064864"/>
            <a:ext cx="525234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 Plan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510247" y="2382203"/>
            <a:ext cx="5266085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First, query the vector store using a RAG chain to fetch relevant documents. Then, ask an agent to perform a calculation.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449939" y="3847206"/>
            <a:ext cx="333684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Queries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464446" y="4309133"/>
            <a:ext cx="3284570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Finally, combine both steps by asking the agent to retrieve data and perform calculations, showcasing integrated reasoning.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8279774" y="1587311"/>
            <a:ext cx="383540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Verbose Reasoning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8279765" y="1998345"/>
            <a:ext cx="3335655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Observe the verbose reasoning logs to understand how the agent selects tools and generates answers step-by-step.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8270413" y="4022268"/>
            <a:ext cx="383540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Documents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8279765" y="4460240"/>
            <a:ext cx="3335655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 source documents are returned for transparency, allowing you to trace the origins of the generated answers.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&amp; Pitfalls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E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179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7179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7204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47204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7229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7229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7254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47254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817" y="12466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3817" y="12466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817" y="104663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3817" y="104663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817" y="84661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3817" y="84661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3817" y="646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43817" y="646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" y="713105"/>
            <a:ext cx="4472940" cy="19983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 Best Practices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0205" y="216298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205" y="216298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604" y="220352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604" y="220352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0205" y="441460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205" y="4414604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6604" y="4455142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786604" y="4455142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42-d2nf8mh8bjvh7rlj0al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277" y="0"/>
            <a:ext cx="6564268" cy="3429000"/>
          </a:xfrm>
          <a:prstGeom prst="rect">
            <a:avLst/>
          </a:prstGeom>
        </p:spPr>
      </p:pic>
      <p:pic>
        <p:nvPicPr>
          <p:cNvPr id="28" name="Image 1" descr="https://kimi-img.moonshot.cn/pub/slides/slides_tmpl/image/25-08-27-20:04:42-d2nf8mh8bjvh7rlj0al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849" y="3429001"/>
            <a:ext cx="6571151" cy="34290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580731" y="-1"/>
            <a:ext cx="1940488" cy="6858000"/>
          </a:xfrm>
          <a:prstGeom prst="rect">
            <a:avLst/>
          </a:prstGeom>
          <a:gradFill flip="none" rotWithShape="1">
            <a:gsLst>
              <a:gs pos="0">
                <a:srgbClr val="D8E1FD"/>
              </a:gs>
              <a:gs pos="1000">
                <a:srgbClr val="D9E2FE"/>
              </a:gs>
              <a:gs pos="18000">
                <a:srgbClr val="D8E1FD"/>
              </a:gs>
              <a:gs pos="29000">
                <a:srgbClr val="D9E2FE"/>
              </a:gs>
              <a:gs pos="99000">
                <a:srgbClr val="FFF2C6">
                  <a:alpha val="0"/>
                </a:srgbClr>
              </a:gs>
              <a:gs pos="100000">
                <a:srgbClr val="FFF2C6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Text 26"/>
          <p:cNvSpPr/>
          <p:nvPr/>
        </p:nvSpPr>
        <p:spPr>
          <a:xfrm>
            <a:off x="5580731" y="-1"/>
            <a:ext cx="1940488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169035" y="2096135"/>
            <a:ext cx="462470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Documents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205865" y="2495550"/>
            <a:ext cx="4624705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return source documents with answers to maintain transparency and credibility in AI-generated responses.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69035" y="4347845"/>
            <a:ext cx="462470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Overlap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205865" y="4747260"/>
            <a:ext cx="4624705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 chunk overlap to preserve context across splits, ensuring coherent and accurate retrieval results.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0">
          <a:gsLst>
            <a:gs pos="0">
              <a:srgbClr val="C7D5FC"/>
            </a:gs>
            <a:gs pos="29000">
              <a:srgbClr val="C7D5FC"/>
            </a:gs>
            <a:gs pos="49000">
              <a:srgbClr val="FFF7DD"/>
            </a:gs>
            <a:gs pos="83000">
              <a:srgbClr val="D8E1FD"/>
            </a:gs>
            <a:gs pos="100000">
              <a:srgbClr val="D8E1FD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7664" y="377315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7664" y="377315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84063" y="381369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5" name="Text 3"/>
          <p:cNvSpPr/>
          <p:nvPr/>
        </p:nvSpPr>
        <p:spPr>
          <a:xfrm>
            <a:off x="4284063" y="381369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06882" y="108852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6882" y="108852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3281" y="112906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9" name="Text 7"/>
          <p:cNvSpPr/>
          <p:nvPr/>
        </p:nvSpPr>
        <p:spPr>
          <a:xfrm>
            <a:off x="8383281" y="112906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8-27-20:04:43-d2nf8mp8bjvh7rlj0ap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5" y="939165"/>
            <a:ext cx="2995930" cy="252095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8-27-20:04:43-d2nf8mp8bjvh7rlj0an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135" y="939165"/>
            <a:ext cx="4514215" cy="25209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9099" y="38735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769099" y="38735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69124" y="38735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969124" y="38735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169149" y="38735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1169149" y="38735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369174" y="38735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1369174" y="38735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65737" y="461406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565737" y="461406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65737" y="44140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565737" y="44140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65737" y="42140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565737" y="42140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65737" y="40139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565737" y="40139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15340" y="4079875"/>
            <a:ext cx="3196590" cy="20834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Hands-On Lab Checklist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207029" y="537589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07029" y="537589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283428" y="541643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4283428" y="541643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8610600" y="1015365"/>
            <a:ext cx="319659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Reload Vector Store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409305" y="1816735"/>
            <a:ext cx="3505835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by reloading the persisted vector store from Day 1 to ensure your data is ready for further processing.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511675" y="3717925"/>
            <a:ext cx="699198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RAG Chain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309745" y="4131945"/>
            <a:ext cx="710692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a RetrievalQA chain and test a query to verify that retrieval and generation are working correctly.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4511040" y="5320665"/>
            <a:ext cx="700659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Tools &amp; Agents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4309110" y="5734685"/>
            <a:ext cx="710692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 a calculator tool, initialize an agent, and run a multi-step query to see the agent in action.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0">
          <a:gsLst>
            <a:gs pos="0">
              <a:srgbClr val="F9F1DC"/>
            </a:gs>
            <a:gs pos="99000">
              <a:srgbClr val="C7D5FC"/>
            </a:gs>
            <a:gs pos="100000">
              <a:srgbClr val="A1D9F1"/>
            </a:gs>
            <a:gs pos="100000">
              <a:srgbClr val="72C5E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9-d2nf8lp8bjvh7rlj0ag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207" y="3011543"/>
            <a:ext cx="8976548" cy="384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38662" y="117302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38662" y="117302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15061" y="121356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6" name="Text 3"/>
          <p:cNvSpPr/>
          <p:nvPr/>
        </p:nvSpPr>
        <p:spPr>
          <a:xfrm>
            <a:off x="5815061" y="121356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5231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795231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95256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995256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95281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195281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95306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395306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591868" y="13860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591868" y="13860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591868" y="118599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591868" y="118599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591868" y="9859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591868" y="9859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91868" y="785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591868" y="785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61820" y="653415"/>
            <a:ext cx="3030220" cy="1872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Errors &amp; Quick Fixes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82220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882220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2222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02222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22225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922225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42227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942227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2230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962230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82232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982232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02235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1002235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22237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1022237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062661" y="1101874"/>
            <a:ext cx="4505756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Table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638800" y="1571728"/>
            <a:ext cx="4929617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issues include irrelevant RAG results, agent tool failures, and missing modules. Fixes involve adjusting parameters, checking tool descriptions, and running pip install.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Wrap-up &amp; Forward Look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0">
          <a:gsLst>
            <a:gs pos="0">
              <a:srgbClr val="D8E1FD"/>
            </a:gs>
            <a:gs pos="22000">
              <a:srgbClr val="D8E1FD"/>
            </a:gs>
            <a:gs pos="100000">
              <a:srgbClr val="C7D5FC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214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25214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25239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25239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5264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25264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25289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25289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851" y="11679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1851" y="11679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851" y="9679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851" y="9679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851" y="76788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1851" y="76788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851" y="56786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851" y="56786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5170" y="608330"/>
            <a:ext cx="10675620" cy="1514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 Today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9012" y="2259805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012" y="2259805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5802" y="2300343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25802" y="2300343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3236" y="4241837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3236" y="4241837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00026" y="4282375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3700026" y="4282375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46439" y="4241837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6439" y="4241837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13229" y="4282375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0" name="Text 28"/>
          <p:cNvSpPr/>
          <p:nvPr/>
        </p:nvSpPr>
        <p:spPr>
          <a:xfrm>
            <a:off x="7913229" y="4282375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0" descr="https://kimi-img.moonshot.cn/pub/slides/slides_tmpl/image/25-08-27-20:04:45-d2nf8n98bjvh7rlj0ar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570" y="1811078"/>
            <a:ext cx="3662704" cy="2155017"/>
          </a:xfrm>
          <a:prstGeom prst="rect">
            <a:avLst/>
          </a:prstGeom>
        </p:spPr>
      </p:pic>
      <p:pic>
        <p:nvPicPr>
          <p:cNvPr id="32" name="Image 1" descr="https://kimi-img.moonshot.cn/pub/slides/slides_tmpl/image/25-08-27-20:04:44-d2nf8n18bjvh7rlj0aq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94" y="1811078"/>
            <a:ext cx="3662704" cy="21254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23689" y="2075142"/>
            <a:ext cx="2044184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984885" y="2860675"/>
            <a:ext cx="1983105" cy="12900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grounds answers in your data, ensuring accurate and context-aware responses.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3897912" y="4195673"/>
            <a:ext cx="341136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3588573" y="4713984"/>
            <a:ext cx="372070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extend the LLM’s capabilities, allowing integration with external systems like calculators and web search.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111115" y="4195673"/>
            <a:ext cx="341136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738194" y="4713984"/>
            <a:ext cx="372070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Agents enable autonomous multi-step reasoning, simplifying complex workflows without hardcoding logic.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842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43842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43867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43867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892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892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43917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43917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0480" y="12609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0480" y="12609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480" y="106088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0480" y="106088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480" y="8608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0480" y="8608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0480" y="6608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0480" y="6608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875" y="683895"/>
            <a:ext cx="4934585" cy="13227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Steps Toward Day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9017" y="2034887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17" y="2034887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0428" y="2085971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560428" y="2085971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9017" y="450875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17" y="450875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428" y="455983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560428" y="455983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36-d2nf8l18bjvh7rlj0ab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41"/>
            <a:ext cx="6095999" cy="68381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875" y="2008505"/>
            <a:ext cx="4934585" cy="1169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 for Day 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0260" y="2479040"/>
            <a:ext cx="4934585" cy="176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 your RAG chain and agent code, verify vector store persistence, and optionally experiment with more tools like web search or translation APIs.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7663" y="4472248"/>
            <a:ext cx="4983898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3 Preview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0517" y="5005494"/>
            <a:ext cx="493430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 Day 3, we will build a web UI, containerize the stack, and deploy the full AI assistant, completing our end-to-end project.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1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7-d2nf8l98bjvh7rlj0ad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63240" y="2311248"/>
            <a:ext cx="6295390" cy="1656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174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41434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41434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1437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1437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81439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81439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1442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1442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3825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23825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3827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43827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3830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63830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83832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83832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34970" y="3863913"/>
            <a:ext cx="40640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37020" y="3907257"/>
            <a:ext cx="30359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56576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056576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076579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076579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96581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096581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16584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16584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23388" y="574675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523388" y="574675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523388" y="55467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523388" y="55467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523388" y="53467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523388" y="53467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523388" y="5146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523388" y="5146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523388" y="6539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523388" y="6539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523388" y="6339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523388" y="6339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523388" y="6139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523388" y="6139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523388" y="5939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523388" y="5939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11468678" y="3041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11468678" y="3041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11468678" y="2841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11468678" y="2841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11468678" y="2641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11468678" y="2641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11468678" y="2441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11468678" y="2441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4"/>
          <p:cNvSpPr/>
          <p:nvPr/>
        </p:nvSpPr>
        <p:spPr>
          <a:xfrm>
            <a:off x="11468678" y="383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11468678" y="383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56"/>
          <p:cNvSpPr/>
          <p:nvPr/>
        </p:nvSpPr>
        <p:spPr>
          <a:xfrm>
            <a:off x="11468678" y="363495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57"/>
          <p:cNvSpPr/>
          <p:nvPr/>
        </p:nvSpPr>
        <p:spPr>
          <a:xfrm>
            <a:off x="11468678" y="363495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58"/>
          <p:cNvSpPr/>
          <p:nvPr/>
        </p:nvSpPr>
        <p:spPr>
          <a:xfrm>
            <a:off x="11468678" y="343493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59"/>
          <p:cNvSpPr/>
          <p:nvPr/>
        </p:nvSpPr>
        <p:spPr>
          <a:xfrm>
            <a:off x="11468678" y="343493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0"/>
          <p:cNvSpPr/>
          <p:nvPr/>
        </p:nvSpPr>
        <p:spPr>
          <a:xfrm>
            <a:off x="11468678" y="32349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1"/>
          <p:cNvSpPr/>
          <p:nvPr/>
        </p:nvSpPr>
        <p:spPr>
          <a:xfrm>
            <a:off x="11468678" y="32349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Widescreen</PresentationFormat>
  <Paragraphs>122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RAG, Tools &amp; Agents</dc:title>
  <dc:subject>Day 2: RAG, Tools &amp; Agents</dc:subject>
  <dc:creator>Kimi</dc:creator>
  <cp:lastModifiedBy>Sean</cp:lastModifiedBy>
  <cp:revision>3</cp:revision>
  <dcterms:created xsi:type="dcterms:W3CDTF">2025-12-06T03:19:25Z</dcterms:created>
  <dcterms:modified xsi:type="dcterms:W3CDTF">2025-12-06T03:27:55Z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{"Label":"Day 2: RAG, Tools &amp; Agents","ContentProducer":"001191110108MACG2KBH8F10000","ProduceID":"d4ppvt1g4pnoa0ag8jlg","ReservedCode1":"","ContentPropagator":"001191110108MACG2KBH8F20000","PropagateID":"d4ppvt1g4pnoa0ag8jlg","ReservedCode2":""}</vt:lpwstr>
  </property>
</Properties>
</file>