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MiSans" panose="020B0604020202020204" charset="-12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468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5330" y="1568117"/>
            <a:ext cx="7077390" cy="175432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RAG with Gemini &amp; LangChain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174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5860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15860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5863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5863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5865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5865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75868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75868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2631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42631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2634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62634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82636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82636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02639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02639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18365" y="3578388"/>
            <a:ext cx="40640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318365" y="4213388"/>
            <a:ext cx="30359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8" y="1412240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946" y="439166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273269" y="2275839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273269" y="2275839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925" y="5073480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1511842" y="12193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1511842" y="12193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1511842" y="101933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1511842" y="101933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1511842" y="8193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1511842" y="8193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511842" y="61928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511842" y="61928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511842" y="201247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11511842" y="201247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11511842" y="18124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11511842" y="18124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11511842" y="16124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11511842" y="16124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11511842" y="14124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11511842" y="14124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318177" y="57251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318177" y="57251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318178" y="55251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318178" y="55251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318178" y="53251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318178" y="53251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318178" y="512508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318178" y="512508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318177" y="65182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318177" y="65182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318178" y="63182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318178" y="63182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318178" y="61182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318178" y="61182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318178" y="591820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318178" y="591820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FFF2C6"/>
            </a:gs>
            <a:gs pos="74000">
              <a:srgbClr val="C7D5FC"/>
            </a:gs>
            <a:gs pos="83000">
              <a:srgbClr val="D8E1FD"/>
            </a:gs>
            <a:gs pos="100000">
              <a:srgbClr val="D8E1FD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2433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72433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436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436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438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12438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2441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2441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3191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83191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193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3193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96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96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3198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3198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92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3192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194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3194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197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3197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199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3199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5662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45662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665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65665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5667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85667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670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670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6036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46036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6038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6038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6041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86041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6043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6043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7302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7302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07304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07304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7307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27307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47309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47309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3191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3191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3193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3193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3196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23196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198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43198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2388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2388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2390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22390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42393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42393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62395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62395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0519" y="17356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20519" y="17356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0519" y="153559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20519" y="153559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0519" y="133557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820519" y="133557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0520" y="11355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820520" y="11355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4" name="Image 0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" y="4587240"/>
            <a:ext cx="152400" cy="152400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1052729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3"/>
          <p:cNvSpPr/>
          <p:nvPr/>
        </p:nvSpPr>
        <p:spPr>
          <a:xfrm>
            <a:off x="1052729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072731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/>
          <p:nvPr/>
        </p:nvSpPr>
        <p:spPr>
          <a:xfrm>
            <a:off x="1072731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1092734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/>
          <p:nvPr/>
        </p:nvSpPr>
        <p:spPr>
          <a:xfrm>
            <a:off x="1092734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1112736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1112736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11336120" y="654130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/>
          <p:nvPr/>
        </p:nvSpPr>
        <p:spPr>
          <a:xfrm>
            <a:off x="11336120" y="654130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11336120" y="63412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/>
          <p:nvPr/>
        </p:nvSpPr>
        <p:spPr>
          <a:xfrm>
            <a:off x="11336120" y="63412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11336120" y="614125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/>
          <p:nvPr/>
        </p:nvSpPr>
        <p:spPr>
          <a:xfrm>
            <a:off x="11336120" y="614125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11336120" y="59412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7"/>
          <p:cNvSpPr/>
          <p:nvPr/>
        </p:nvSpPr>
        <p:spPr>
          <a:xfrm>
            <a:off x="11336120" y="59412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1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204" y="4909876"/>
            <a:ext cx="1320800" cy="1371600"/>
          </a:xfrm>
          <a:prstGeom prst="rect">
            <a:avLst/>
          </a:prstGeom>
        </p:spPr>
      </p:pic>
      <p:pic>
        <p:nvPicPr>
          <p:cNvPr id="92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995" y="1202055"/>
            <a:ext cx="1041400" cy="962025"/>
          </a:xfrm>
          <a:prstGeom prst="rect">
            <a:avLst/>
          </a:prstGeom>
        </p:spPr>
      </p:pic>
      <p:sp>
        <p:nvSpPr>
          <p:cNvPr id="93" name="Shape 88"/>
          <p:cNvSpPr/>
          <p:nvPr/>
        </p:nvSpPr>
        <p:spPr>
          <a:xfrm>
            <a:off x="10762111" y="4770810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94" name="Text 89"/>
          <p:cNvSpPr/>
          <p:nvPr/>
        </p:nvSpPr>
        <p:spPr>
          <a:xfrm>
            <a:off x="10762111" y="4770810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5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66" y="1735624"/>
            <a:ext cx="731154" cy="676035"/>
          </a:xfrm>
          <a:prstGeom prst="rect">
            <a:avLst/>
          </a:prstGeom>
        </p:spPr>
      </p:pic>
      <p:sp>
        <p:nvSpPr>
          <p:cNvPr id="96" name="Text 90"/>
          <p:cNvSpPr/>
          <p:nvPr/>
        </p:nvSpPr>
        <p:spPr>
          <a:xfrm>
            <a:off x="1010920" y="2968625"/>
            <a:ext cx="3543935" cy="6836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97" name="Text 91"/>
          <p:cNvSpPr/>
          <p:nvPr/>
        </p:nvSpPr>
        <p:spPr>
          <a:xfrm>
            <a:off x="6670914" y="728660"/>
            <a:ext cx="1041400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98" name="Text 92"/>
          <p:cNvSpPr/>
          <p:nvPr/>
        </p:nvSpPr>
        <p:spPr>
          <a:xfrm>
            <a:off x="4100195" y="1610360"/>
            <a:ext cx="357886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Architecture</a:t>
            </a:r>
            <a:endParaRPr lang="en-US" sz="1600" dirty="0"/>
          </a:p>
        </p:txBody>
      </p:sp>
      <p:sp>
        <p:nvSpPr>
          <p:cNvPr id="99" name="Text 93"/>
          <p:cNvSpPr/>
          <p:nvPr/>
        </p:nvSpPr>
        <p:spPr>
          <a:xfrm>
            <a:off x="10260460" y="728660"/>
            <a:ext cx="1418033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8164830" y="1673225"/>
            <a:ext cx="351282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Environment &amp; Data Ingest</a:t>
            </a:r>
            <a:endParaRPr lang="en-US" sz="1600" dirty="0"/>
          </a:p>
        </p:txBody>
      </p:sp>
      <p:sp>
        <p:nvSpPr>
          <p:cNvPr id="101" name="Text 95"/>
          <p:cNvSpPr/>
          <p:nvPr/>
        </p:nvSpPr>
        <p:spPr>
          <a:xfrm>
            <a:off x="6666865" y="2537460"/>
            <a:ext cx="175196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02" name="Text 96"/>
          <p:cNvSpPr/>
          <p:nvPr/>
        </p:nvSpPr>
        <p:spPr>
          <a:xfrm>
            <a:off x="4100195" y="3418840"/>
            <a:ext cx="360807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&amp; Embeddings</a:t>
            </a:r>
            <a:endParaRPr lang="en-US" sz="1600" dirty="0"/>
          </a:p>
        </p:txBody>
      </p:sp>
      <p:sp>
        <p:nvSpPr>
          <p:cNvPr id="103" name="Text 97"/>
          <p:cNvSpPr/>
          <p:nvPr/>
        </p:nvSpPr>
        <p:spPr>
          <a:xfrm>
            <a:off x="10260330" y="2537460"/>
            <a:ext cx="1668145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04" name="Text 98"/>
          <p:cNvSpPr/>
          <p:nvPr/>
        </p:nvSpPr>
        <p:spPr>
          <a:xfrm>
            <a:off x="8164830" y="3408680"/>
            <a:ext cx="3512820" cy="774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Store &amp; Retrieval</a:t>
            </a:r>
            <a:endParaRPr lang="en-US" sz="1600" dirty="0"/>
          </a:p>
        </p:txBody>
      </p:sp>
      <p:sp>
        <p:nvSpPr>
          <p:cNvPr id="105" name="Text 99"/>
          <p:cNvSpPr/>
          <p:nvPr/>
        </p:nvSpPr>
        <p:spPr>
          <a:xfrm>
            <a:off x="6675755" y="4427220"/>
            <a:ext cx="1752600" cy="736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06" name="Text 100"/>
          <p:cNvSpPr/>
          <p:nvPr/>
        </p:nvSpPr>
        <p:spPr>
          <a:xfrm>
            <a:off x="4137660" y="5234940"/>
            <a:ext cx="360807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Wrap-up &amp; Next Steps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Architecture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09900" y="1747520"/>
            <a:ext cx="6782099" cy="45332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13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2613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615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615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618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2618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620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2620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2769" y="106468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22769" y="106468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769" y="86466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2769" y="86466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769" y="66463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22769" y="66463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2769" y="4646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22769" y="4646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2785" y="474345"/>
            <a:ext cx="10713720" cy="1657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Goals &amp; 3-Day Roadmap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80705" y="127787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80705" y="127787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72116" y="132896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972116" y="132896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80705" y="307292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80705" y="307292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72116" y="312400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5972116" y="312400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kimi-img.moonshot.cn/pub/slides/slides_tmpl/image/25-08-27-20:04:43-d2nf8mp8bjvh7rlj0an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75" y="1870714"/>
            <a:ext cx="4406868" cy="453320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838171" y="488955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838171" y="488955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929582" y="494064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5929582" y="494064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34654" y="1130783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Knowledge Assistant Features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986395" y="1591520"/>
            <a:ext cx="548055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will build an AI Knowledge Assistant with document uploads, chunking pipeline, Gemini embeddings, Chroma vector store, RAG + tools + agents, and a deployable web UI.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234654" y="2925828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3-Day Schedule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967954" y="3365888"/>
            <a:ext cx="548055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1 focuses on foundations and vector DB. Day 2 covers RAG, tools, and agents. Day 3 is dedicated to UI development and deployment.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192120" y="4742463"/>
            <a:ext cx="54805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Milestones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925420" y="5182523"/>
            <a:ext cx="548055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day has clear milestones to ensure steady progress. By the end of Day 1, you will have the foundation for your RAG assistant.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0">
          <a:gsLst>
            <a:gs pos="0">
              <a:srgbClr val="D8E1FD"/>
            </a:gs>
            <a:gs pos="0">
              <a:srgbClr val="C7D5FC"/>
            </a:gs>
            <a:gs pos="0">
              <a:srgbClr val="FFF2C6"/>
            </a:gs>
            <a:gs pos="0">
              <a:srgbClr val="F2ECD9"/>
            </a:gs>
            <a:gs pos="49000">
              <a:srgbClr val="D8E1FD"/>
            </a:gs>
            <a:gs pos="100000">
              <a:srgbClr val="D8E1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42-d2nf8mh8bjvh7rlj0am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335" y="222978"/>
            <a:ext cx="721714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67840" y="7321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067840" y="7321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67865" y="7321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267865" y="7321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67890" y="7321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467890" y="7321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67915" y="7321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667915" y="7321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64477" y="14727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64477" y="14727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4477" y="12726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64477" y="12726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64477" y="107264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64477" y="107264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4477" y="8726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64477" y="8726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53160" y="932180"/>
            <a:ext cx="8193405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+ LangChain Stack Explained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2750" y="2531093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2750" y="2531093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54161" y="2582177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1054161" y="2582177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962750" y="4671585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2750" y="4671585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54161" y="4722669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1054161" y="4722669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kimi-img.moonshot.cn/pub/slides/slides_tmpl/image/25-08-27-20:04:45-d2nf8n98bjvh7rlj0a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165624"/>
            <a:ext cx="4762500" cy="5715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271270" y="2494915"/>
            <a:ext cx="458724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Capabilities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304290" y="3008630"/>
            <a:ext cx="483743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is a multimodal LLM that provides chat, embeddings, structured output, and function calling. It serves as the core generation engine.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271270" y="4635500"/>
            <a:ext cx="4587240" cy="3067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 Features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304290" y="5149215"/>
            <a:ext cx="483743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LangChain offers tooling frameworks, chains, agents, retrieval pipelines, and vector store integrations to orchestrate the RAG workflow.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0">
          <a:gsLst>
            <a:gs pos="0">
              <a:srgbClr val="C7D5FC"/>
            </a:gs>
            <a:gs pos="42000">
              <a:srgbClr val="C7D5FC"/>
            </a:gs>
            <a:gs pos="56000">
              <a:srgbClr val="D8E1FD"/>
            </a:gs>
            <a:gs pos="100000">
              <a:srgbClr val="D8E1FD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48-d2nf8o18bjvh7rlj0b2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" y="11819"/>
            <a:ext cx="36984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44822" y="653687"/>
            <a:ext cx="6604129" cy="1073170"/>
          </a:xfrm>
          <a:prstGeom prst="rect">
            <a:avLst/>
          </a:prstGeom>
          <a:solidFill>
            <a:srgbClr val="F9F1DC"/>
          </a:solidFill>
          <a:ln/>
        </p:spPr>
      </p:sp>
      <p:sp>
        <p:nvSpPr>
          <p:cNvPr id="4" name="Text 1"/>
          <p:cNvSpPr/>
          <p:nvPr/>
        </p:nvSpPr>
        <p:spPr>
          <a:xfrm>
            <a:off x="4244822" y="653687"/>
            <a:ext cx="6604129" cy="10731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109932" y="187994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09932" y="187994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86331" y="192048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8" name="Text 5"/>
          <p:cNvSpPr/>
          <p:nvPr/>
        </p:nvSpPr>
        <p:spPr>
          <a:xfrm>
            <a:off x="4186331" y="192048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44822" y="3811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4244822" y="3811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44847" y="3811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444847" y="3811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44872" y="3811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44872" y="3811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44897" y="3811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44897" y="3811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041460" y="112167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041460" y="112167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041460" y="9216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4041460" y="9216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041460" y="72162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041460" y="72162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041460" y="52159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4041460" y="52159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311650" y="788670"/>
            <a:ext cx="6387465" cy="885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&amp; Detailed RAG Flow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13528" y="658981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13528" y="658981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3528" y="638979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13528" y="638979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13528" y="6189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713528" y="6189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13528" y="59897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713528" y="59897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13528" y="57373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13528" y="57373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13528" y="55373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713528" y="55373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13528" y="53373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713528" y="53373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13528" y="51372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713528" y="51372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1539043" y="22135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0"/>
          <p:cNvSpPr/>
          <p:nvPr/>
        </p:nvSpPr>
        <p:spPr>
          <a:xfrm>
            <a:off x="11539043" y="22135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1539043" y="20135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11539043" y="20135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1539043" y="18135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11539043" y="18135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11539043" y="16135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11539043" y="16135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1539043" y="136113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11539043" y="136113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11539043" y="116111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0"/>
          <p:cNvSpPr/>
          <p:nvPr/>
        </p:nvSpPr>
        <p:spPr>
          <a:xfrm>
            <a:off x="11539043" y="116111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1539043" y="96108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11539043" y="96108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1539043" y="7610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4"/>
          <p:cNvSpPr/>
          <p:nvPr/>
        </p:nvSpPr>
        <p:spPr>
          <a:xfrm>
            <a:off x="11539043" y="7610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109932" y="316585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109932" y="316585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4186331" y="320639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61" name="Text 58"/>
          <p:cNvSpPr/>
          <p:nvPr/>
        </p:nvSpPr>
        <p:spPr>
          <a:xfrm>
            <a:off x="4186331" y="320639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4109932" y="4380981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109932" y="4380981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4186331" y="4421519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65" name="Text 62"/>
          <p:cNvSpPr/>
          <p:nvPr/>
        </p:nvSpPr>
        <p:spPr>
          <a:xfrm>
            <a:off x="4186331" y="4421519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4109932" y="5598195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109932" y="5598195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4186331" y="5638733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69" name="Text 66"/>
          <p:cNvSpPr/>
          <p:nvPr/>
        </p:nvSpPr>
        <p:spPr>
          <a:xfrm>
            <a:off x="4186331" y="5638733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4538760" y="1810267"/>
            <a:ext cx="682401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Pipeline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4566285" y="2158365"/>
            <a:ext cx="697230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Documents are loaded, chunked, embedded, stored in a vector DB, retrieved, and fed to Gemini to generate answers.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4538760" y="3096177"/>
            <a:ext cx="682401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Detailed Flow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4566285" y="3444240"/>
            <a:ext cx="697357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queries trigger the retriever to fetch relevant chunks, which are combined with the query and sent to Gemini for a final answer with citations.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4538760" y="4311300"/>
            <a:ext cx="682401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Roles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4566285" y="4659630"/>
            <a:ext cx="6971665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component—loader, chunker, embeddings, vector DB, retriever, and LLM—plays a specific role in the RAG architecture.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4538760" y="5528514"/>
            <a:ext cx="682401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Benefits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4566285" y="5876925"/>
            <a:ext cx="6971665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integration of Gemini and LangChain streamlines the RAG process, making it efficient and scalable for various applications.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Environment &amp; Data Ingest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0">
          <a:gsLst>
            <a:gs pos="0">
              <a:srgbClr val="B2C4FF"/>
            </a:gs>
            <a:gs pos="22000">
              <a:srgbClr val="D8E1FD"/>
            </a:gs>
            <a:gs pos="100000">
              <a:srgbClr val="C7D5FC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3644" y="34948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93644" y="34948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93669" y="34948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93669" y="34948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3694" y="34948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93694" y="34948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93719" y="34948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93719" y="34948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0282" y="42353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0282" y="42353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0282" y="403530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0282" y="403530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0282" y="383528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0282" y="383528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0282" y="363525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0282" y="363525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" y="3916998"/>
            <a:ext cx="6554470" cy="4994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 Setup &amp; Secure API Key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6484" y="478812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6484" y="478812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883" y="482866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632883" y="482866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20:04:35-d2nf8kp8bjvh7rlj0aa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349" y="0"/>
            <a:ext cx="4858280" cy="6858000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20:04:35-d2nf8kp8bjvh7rlj0aa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75" y="30052"/>
            <a:ext cx="2304176" cy="3070607"/>
          </a:xfrm>
          <a:prstGeom prst="rect">
            <a:avLst/>
          </a:prstGeom>
        </p:spPr>
      </p:pic>
      <p:pic>
        <p:nvPicPr>
          <p:cNvPr id="25" name="Image 2" descr="https://kimi-img.moonshot.cn/pub/slides/slides_tmpl/image/25-08-27-20:04:36-d2nf8l18bjvh7rlj0ab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950" y="30052"/>
            <a:ext cx="2325494" cy="310065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85287" y="4726116"/>
            <a:ext cx="6463027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Setup Steps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497205" y="5126990"/>
            <a:ext cx="6751320" cy="14433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 dependencies, create a .env file with GEMINI_API_KEY, test the API connection, and verify the documents folder exists to ensure a secure and functional environment.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0">
          <a:gsLst>
            <a:gs pos="0">
              <a:srgbClr val="FFF2C6"/>
            </a:gs>
            <a:gs pos="51000">
              <a:srgbClr val="D8E1FD"/>
            </a:gs>
            <a:gs pos="83000">
              <a:srgbClr val="D8E1FD"/>
            </a:gs>
            <a:gs pos="99000">
              <a:srgbClr val="C7D5FC"/>
            </a:gs>
            <a:gs pos="100000">
              <a:srgbClr val="C7D5FC"/>
            </a:gs>
          </a:gsLst>
          <a:lin ang="7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43-d2nf8mp8bjvh7rlj0a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6611"/>
            <a:ext cx="51435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39718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939718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39743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139743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39768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6339768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39793" y="323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539793" y="323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36356" y="10642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736356" y="10642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36356" y="8641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736356" y="8641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36356" y="66414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736356" y="66414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736356" y="4641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736356" y="4641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04560" y="530225"/>
            <a:ext cx="5942330" cy="777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 Multiple Document Formats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09664" y="4946665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09664" y="4946665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86063" y="4987203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786063" y="4987203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09664" y="147773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09664" y="147773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786063" y="151827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5786063" y="151827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09664" y="3201496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09664" y="3201496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86063" y="3242034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1" name="Text 28"/>
          <p:cNvSpPr/>
          <p:nvPr/>
        </p:nvSpPr>
        <p:spPr>
          <a:xfrm>
            <a:off x="5786063" y="3242034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002020" y="1406525"/>
            <a:ext cx="587184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Loader Options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000115" y="1852930"/>
            <a:ext cx="594233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PyPDFLoader for PDFs, TextLoader for text files, and UnstructuredLoader for mixed office documents to handle diverse data formats.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00115" y="3134995"/>
            <a:ext cx="587438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Unified Document Objects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938520" y="3534410"/>
            <a:ext cx="5942330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load_docs() function returns a unified list of LangChain Document objects, simplifying downstream processing regardless of the source format.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000115" y="4879975"/>
            <a:ext cx="587438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Extensibility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938520" y="5279390"/>
            <a:ext cx="5942330" cy="5163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approach ensures that the system can easily adapt to new document types and formats as needed.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&amp; Embeddings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0">
          <a:gsLst>
            <a:gs pos="0">
              <a:srgbClr val="D9E2FE"/>
            </a:gs>
            <a:gs pos="11000">
              <a:srgbClr val="D9E2FE"/>
            </a:gs>
            <a:gs pos="36000">
              <a:srgbClr val="D9E2FE"/>
            </a:gs>
            <a:gs pos="72000">
              <a:srgbClr val="FFF2C6"/>
            </a:gs>
            <a:gs pos="99000">
              <a:srgbClr val="C7D5FC"/>
            </a:gs>
            <a:gs pos="100000">
              <a:srgbClr val="C7D5FC"/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5132" y="5747380"/>
            <a:ext cx="7212733" cy="677108"/>
          </a:xfrm>
          <a:prstGeom prst="rect">
            <a:avLst/>
          </a:prstGeom>
          <a:solidFill>
            <a:srgbClr val="D8E1FD"/>
          </a:solidFill>
          <a:ln/>
        </p:spPr>
      </p:sp>
      <p:sp>
        <p:nvSpPr>
          <p:cNvPr id="3" name="Text 1"/>
          <p:cNvSpPr/>
          <p:nvPr/>
        </p:nvSpPr>
        <p:spPr>
          <a:xfrm>
            <a:off x="4505132" y="5747380"/>
            <a:ext cx="7212733" cy="6771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925" y="914792"/>
            <a:ext cx="8752114" cy="2768066"/>
          </a:xfrm>
          <a:prstGeom prst="roundRect">
            <a:avLst>
              <a:gd name="adj" fmla="val 16667"/>
            </a:avLst>
          </a:prstGeom>
          <a:solidFill>
            <a:srgbClr val="F9F1DC"/>
          </a:solidFill>
          <a:ln/>
          <a:effectLst>
            <a:outerShdw blurRad="647378" dist="50800" dir="2700000" algn="bl" rotWithShape="0">
              <a:srgbClr val="6D7ECC">
                <a:alpha val="4588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1925" y="914792"/>
            <a:ext cx="8752114" cy="276806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1669" y="1156612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1669" y="1156612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8068" y="1197150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9" name="Text 7"/>
          <p:cNvSpPr/>
          <p:nvPr/>
        </p:nvSpPr>
        <p:spPr>
          <a:xfrm>
            <a:off x="668068" y="1197150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73750" y="116241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750" y="116241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50149" y="120295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50149" y="120295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86275" y="42407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86275" y="42407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6300" y="42407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86300" y="42407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86325" y="42407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6325" y="42407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86350" y="42407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486350" y="42407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2913" y="49812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82913" y="49812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2913" y="478125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2913" y="478125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2913" y="45812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2913" y="45812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2913" y="43812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2913" y="43812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4720" y="4448175"/>
            <a:ext cx="6253480" cy="12236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Strategy &amp; Overlap Trade-offs</a:t>
            </a:r>
            <a:endParaRPr lang="en-US" sz="1600" dirty="0"/>
          </a:p>
        </p:txBody>
      </p:sp>
      <p:pic>
        <p:nvPicPr>
          <p:cNvPr id="31" name="Image 0" descr="https://kimi-img.moonshot.cn/pub/slides/slides_tmpl/image/25-08-27-20:04:40-d2nf8m18bjvh7rlj0ai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604" y="602673"/>
            <a:ext cx="2492262" cy="1663701"/>
          </a:xfrm>
          <a:prstGeom prst="rect">
            <a:avLst/>
          </a:prstGeom>
        </p:spPr>
      </p:pic>
      <p:pic>
        <p:nvPicPr>
          <p:cNvPr id="32" name="Image 1" descr="https://kimi-img.moonshot.cn/pub/slides/slides_tmpl/image/25-08-27-20:04:41-d2nf8m98bjvh7rlj0ak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604" y="2378570"/>
            <a:ext cx="2492261" cy="3203246"/>
          </a:xfrm>
          <a:prstGeom prst="rect">
            <a:avLst/>
          </a:prstGeom>
        </p:spPr>
      </p:pic>
      <p:pic>
        <p:nvPicPr>
          <p:cNvPr id="33" name="Image 2" descr="https://kimi-img.moonshot.cn/pub/slides/slides_tmpl/image/25-08-27-20:04:41-d2nf8m98bjvh7rlj0aj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764" y="3873921"/>
            <a:ext cx="2408275" cy="168829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33450" y="1100455"/>
            <a:ext cx="373697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Motivation</a:t>
            </a:r>
            <a:endParaRPr lang="en-US" sz="1600" dirty="0"/>
          </a:p>
        </p:txBody>
      </p:sp>
      <p:sp>
        <p:nvSpPr>
          <p:cNvPr id="35" name="Text 30"/>
          <p:cNvSpPr/>
          <p:nvPr/>
        </p:nvSpPr>
        <p:spPr>
          <a:xfrm>
            <a:off x="828675" y="1764348"/>
            <a:ext cx="367665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Chunking is essential to fit context windows, avoid token overflow, and improve retrieval specificity for LLMs.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5115560" y="1106805"/>
            <a:ext cx="383667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Hyperparameters</a:t>
            </a:r>
            <a:endParaRPr lang="en-US" sz="1600" dirty="0"/>
          </a:p>
        </p:txBody>
      </p:sp>
      <p:sp>
        <p:nvSpPr>
          <p:cNvPr id="37" name="Text 32"/>
          <p:cNvSpPr/>
          <p:nvPr/>
        </p:nvSpPr>
        <p:spPr>
          <a:xfrm>
            <a:off x="5010785" y="1770063"/>
            <a:ext cx="3650615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chunk_size 700 tokens and chunk_overlap 150 tokens to balance granularity and semantic preservation.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0">
          <a:gsLst>
            <a:gs pos="0">
              <a:srgbClr val="C7D5FC"/>
            </a:gs>
            <a:gs pos="42000">
              <a:srgbClr val="C7D5FC"/>
            </a:gs>
            <a:gs pos="56000">
              <a:srgbClr val="D8E1FD"/>
            </a:gs>
            <a:gs pos="100000">
              <a:srgbClr val="D8E1FD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08481" y="313589"/>
            <a:ext cx="1228549" cy="1077219"/>
          </a:xfrm>
          <a:prstGeom prst="ellipse">
            <a:avLst/>
          </a:prstGeom>
          <a:solidFill>
            <a:srgbClr val="F9F1DC"/>
          </a:solidFill>
          <a:ln/>
        </p:spPr>
      </p:sp>
      <p:sp>
        <p:nvSpPr>
          <p:cNvPr id="3" name="Text 1"/>
          <p:cNvSpPr/>
          <p:nvPr/>
        </p:nvSpPr>
        <p:spPr>
          <a:xfrm>
            <a:off x="6208481" y="313589"/>
            <a:ext cx="1228549" cy="107721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1622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31622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1647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31647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31672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31672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1697" y="381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1697" y="381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8260" y="112198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8260" y="112198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8260" y="92195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8260" y="92195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8260" y="72193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8260" y="72193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8260" y="5219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8260" y="5219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500" y="563245"/>
            <a:ext cx="6124575" cy="15335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Splitting in 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2442" y="167069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42" y="167069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8841" y="171123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4" name="Text 22"/>
          <p:cNvSpPr/>
          <p:nvPr/>
        </p:nvSpPr>
        <p:spPr>
          <a:xfrm>
            <a:off x="568841" y="171123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2442" y="3088283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442" y="3088283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8841" y="3128821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8" name="Text 26"/>
          <p:cNvSpPr/>
          <p:nvPr/>
        </p:nvSpPr>
        <p:spPr>
          <a:xfrm>
            <a:off x="568841" y="3128821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822757" y="4317600"/>
            <a:ext cx="1827211" cy="1688201"/>
          </a:xfrm>
          <a:prstGeom prst="ellipse">
            <a:avLst/>
          </a:prstGeom>
          <a:solidFill>
            <a:srgbClr val="C7D5FC"/>
          </a:solidFill>
          <a:ln/>
        </p:spPr>
      </p:sp>
      <p:sp>
        <p:nvSpPr>
          <p:cNvPr id="30" name="Text 28"/>
          <p:cNvSpPr/>
          <p:nvPr/>
        </p:nvSpPr>
        <p:spPr>
          <a:xfrm>
            <a:off x="6822757" y="4317600"/>
            <a:ext cx="1827211" cy="16882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0" descr="https://kimi-img.moonshot.cn/pub/slides/slides_tmpl/image/25-08-27-20:04:50-d2nf8oh8bjvh7rlj0b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108" y="-582930"/>
            <a:ext cx="4732102" cy="49000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92442" y="447927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442" y="447927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68841" y="451981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5" name="Text 32"/>
          <p:cNvSpPr/>
          <p:nvPr/>
        </p:nvSpPr>
        <p:spPr>
          <a:xfrm>
            <a:off x="568841" y="451981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92442" y="566009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442" y="566009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68841" y="570062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9" name="Text 36"/>
          <p:cNvSpPr/>
          <p:nvPr/>
        </p:nvSpPr>
        <p:spPr>
          <a:xfrm>
            <a:off x="568841" y="570062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951298" y="1603385"/>
            <a:ext cx="583489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Splitting Code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88060" y="2003425"/>
            <a:ext cx="688213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RecursiveCharacterTextSplitter with specified chunk size and overlap to split documents into manageable chunks.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51298" y="3020971"/>
            <a:ext cx="5834892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 Approach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65200" y="3351530"/>
            <a:ext cx="6882130" cy="5026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recursive method tries sentence boundaries first, then whitespace, preserving context better than fixed-length cuts.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51298" y="4411966"/>
            <a:ext cx="7516841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Preservation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88060" y="4812030"/>
            <a:ext cx="10405745" cy="240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Chunks retain metadata like page numbers, which is crucial for later citation and traceability.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951298" y="5592778"/>
            <a:ext cx="769867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Practical Benefits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988060" y="5993130"/>
            <a:ext cx="10405745" cy="240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approach ensures that chunks are semantically coherent and ready for embedding and retrieval.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6084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96084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6109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96109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6134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6134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96159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6159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721" y="10953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2721" y="10953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2722" y="8952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92722" y="8952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2722" y="6952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2722" y="6952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2722" y="4952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2722" y="4952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549275"/>
            <a:ext cx="11036300" cy="1504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Gemini Embeddings Model Deep Dive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539" y="1356546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539" y="1356546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7950" y="1407630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7950" y="1407630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20:04:39-d2nf8lp8bjvh7rlj0ag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25" y="4640150"/>
            <a:ext cx="4209775" cy="1927662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20:04:42-d2nf8mh8bjvh7rlj0am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93" y="4640151"/>
            <a:ext cx="6509421" cy="192766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6539" y="234899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6539" y="234899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17950" y="240007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8" name="Text 24"/>
          <p:cNvSpPr/>
          <p:nvPr/>
        </p:nvSpPr>
        <p:spPr>
          <a:xfrm>
            <a:off x="517950" y="240007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26539" y="3480043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6539" y="3480043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17950" y="3531127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517950" y="3531127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60095" y="1344930"/>
            <a:ext cx="1052703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Embeddings Model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26770" y="1708150"/>
            <a:ext cx="11035665" cy="240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models/embedding-001 for 768-dimensional embeddings with high throughput and native multimodal support.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60095" y="2336800"/>
            <a:ext cx="1052766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 Code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26770" y="2700020"/>
            <a:ext cx="11035665" cy="240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Instantiate GoogleGenerativeAIEmbeddings and use embed_query() to convert text into semantic vectors.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60095" y="3468370"/>
            <a:ext cx="1093851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Representation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26770" y="3831590"/>
            <a:ext cx="11035665" cy="2401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Embeddings capture the semantic meaning of text, enabling similarity search in the vector database.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Vector Store &amp; Retrieval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flip="none" rotWithShape="0">
          <a:gsLst>
            <a:gs pos="0">
              <a:srgbClr val="F9F1DC"/>
            </a:gs>
            <a:gs pos="99000">
              <a:srgbClr val="C7D5FC"/>
            </a:gs>
            <a:gs pos="100000">
              <a:srgbClr val="A1D9F1"/>
            </a:gs>
            <a:gs pos="100000">
              <a:srgbClr val="72C5E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9-d2nf8lp8bjvh7rlj0ag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207" y="3011543"/>
            <a:ext cx="8976548" cy="38464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38662" y="1173027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38662" y="1173027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15061" y="1213565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6" name="Text 3"/>
          <p:cNvSpPr/>
          <p:nvPr/>
        </p:nvSpPr>
        <p:spPr>
          <a:xfrm>
            <a:off x="5815061" y="1213565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795231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795231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95256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995256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95281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2195281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95306" y="645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395306" y="645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591868" y="13860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591868" y="13860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591868" y="118599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591868" y="118599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591868" y="9859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591868" y="9859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91868" y="785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591868" y="785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61820" y="653415"/>
            <a:ext cx="3030220" cy="1872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Chroma for Prototyping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82220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882220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2222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02222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22225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922225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42227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942227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62230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962230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82232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982232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022353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10022353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10222378" y="6543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10222378" y="6543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062661" y="1101874"/>
            <a:ext cx="4505756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Chroma Attributes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638800" y="1571728"/>
            <a:ext cx="4929617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Chroma is chosen for its pure-Python implementation, local persistence, memory efficiency, and seamless LangChain integration, making it ideal for rapid prototyping.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0">
          <a:gsLst>
            <a:gs pos="0">
              <a:srgbClr val="D8E1FD"/>
            </a:gs>
            <a:gs pos="22000">
              <a:srgbClr val="D8E1FD"/>
            </a:gs>
            <a:gs pos="100000">
              <a:srgbClr val="C7D5FC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5214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25214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25239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25239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5264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25264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25289" y="42741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25289" y="42741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851" y="11679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21851" y="11679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851" y="9679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1851" y="9679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1851" y="76788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1851" y="76788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851" y="56786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851" y="56786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5170" y="608330"/>
            <a:ext cx="10675620" cy="15144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 Chroma Collection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9012" y="2259805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012" y="2259805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5802" y="2300343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25802" y="2300343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3236" y="4241837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3236" y="4241837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00026" y="4282375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3700026" y="4282375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846439" y="4241837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6439" y="4241837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13229" y="4282375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0" name="Text 28"/>
          <p:cNvSpPr/>
          <p:nvPr/>
        </p:nvSpPr>
        <p:spPr>
          <a:xfrm>
            <a:off x="7913229" y="4282375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Image 0" descr="https://kimi-img.moonshot.cn/pub/slides/slides_tmpl/image/25-08-27-20:04:45-d2nf8n98bjvh7rlj0ar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570" y="1811078"/>
            <a:ext cx="3662704" cy="2155017"/>
          </a:xfrm>
          <a:prstGeom prst="rect">
            <a:avLst/>
          </a:prstGeom>
        </p:spPr>
      </p:pic>
      <p:pic>
        <p:nvPicPr>
          <p:cNvPr id="32" name="Image 1" descr="https://kimi-img.moonshot.cn/pub/slides/slides_tmpl/image/25-08-27-20:04:44-d2nf8n18bjvh7rlj0aq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94" y="1811078"/>
            <a:ext cx="3662704" cy="21254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23689" y="2075142"/>
            <a:ext cx="2044184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Persistence Code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984885" y="2860675"/>
            <a:ext cx="1983105" cy="20774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Chroma.from_documents() to persist the collection to ./chroma_db, ensuring data durability across sessions.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3897912" y="4195673"/>
            <a:ext cx="341136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Automatic Index Creation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3588573" y="4713984"/>
            <a:ext cx="3720701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Chroma automatically creates indexes, eliminating the need for manual configuration in typical prototypes.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8111115" y="4195673"/>
            <a:ext cx="341136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738194" y="4713984"/>
            <a:ext cx="372070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 Chroma is perfect for initial prototypes, it can scale to client-server mode for larger deployments.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8E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179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47179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7204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47204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7229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47229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47254" y="5061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47254" y="5061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817" y="12466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3817" y="12466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817" y="104663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3817" y="104663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3817" y="84661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43817" y="84661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43817" y="646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43817" y="646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" y="713105"/>
            <a:ext cx="4472940" cy="19983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Verify Retrieval Quality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0205" y="216298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0205" y="216298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6604" y="220352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604" y="220352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0205" y="4414604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0205" y="4414604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86604" y="4455142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786604" y="4455142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42-d2nf8mh8bjvh7rlj0al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277" y="0"/>
            <a:ext cx="6564268" cy="3429000"/>
          </a:xfrm>
          <a:prstGeom prst="rect">
            <a:avLst/>
          </a:prstGeom>
        </p:spPr>
      </p:pic>
      <p:pic>
        <p:nvPicPr>
          <p:cNvPr id="28" name="Image 1" descr="https://kimi-img.moonshot.cn/pub/slides/slides_tmpl/image/25-08-27-20:04:42-d2nf8mh8bjvh7rlj0al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849" y="3429001"/>
            <a:ext cx="6571151" cy="34290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580731" y="-1"/>
            <a:ext cx="1940488" cy="6858000"/>
          </a:xfrm>
          <a:prstGeom prst="rect">
            <a:avLst/>
          </a:prstGeom>
          <a:gradFill flip="none" rotWithShape="1">
            <a:gsLst>
              <a:gs pos="0">
                <a:srgbClr val="D8E1FD"/>
              </a:gs>
              <a:gs pos="1000">
                <a:srgbClr val="D9E2FE"/>
              </a:gs>
              <a:gs pos="18000">
                <a:srgbClr val="D8E1FD"/>
              </a:gs>
              <a:gs pos="29000">
                <a:srgbClr val="D9E2FE"/>
              </a:gs>
              <a:gs pos="99000">
                <a:srgbClr val="FFF2C6">
                  <a:alpha val="0"/>
                </a:srgbClr>
              </a:gs>
              <a:gs pos="100000">
                <a:srgbClr val="FFF2C6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Text 26"/>
          <p:cNvSpPr/>
          <p:nvPr/>
        </p:nvSpPr>
        <p:spPr>
          <a:xfrm>
            <a:off x="5580731" y="-1"/>
            <a:ext cx="1940488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1169035" y="2096135"/>
            <a:ext cx="462470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Retrieval Test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1205865" y="2495550"/>
            <a:ext cx="4624705" cy="787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 the persisted store and use similarity_search() to retrieve relevant chunks based on a sample query.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69035" y="4347845"/>
            <a:ext cx="4624705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205865" y="4747260"/>
            <a:ext cx="4624705" cy="10582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Successful retrieval of meaningful chunks validates the chunking and embedding process, ensuring the system is ready for RAG chaining.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86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6137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Wrap-up &amp; Next Steps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0">
          <a:gsLst>
            <a:gs pos="0">
              <a:srgbClr val="F9F1DC">
                <a:alpha val="38000"/>
              </a:srgbClr>
            </a:gs>
            <a:gs pos="74000">
              <a:srgbClr val="B2C4FF"/>
            </a:gs>
            <a:gs pos="83000">
              <a:srgbClr val="B2C4FF"/>
            </a:gs>
            <a:gs pos="99000">
              <a:srgbClr val="C7D5FC"/>
            </a:gs>
            <a:gs pos="100000">
              <a:srgbClr val="C7D5FC"/>
            </a:gs>
          </a:gsLst>
          <a:lin ang="7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6720"/>
            <a:ext cx="12192000" cy="728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80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6780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783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6783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6785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6785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6788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6788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4445" y="11593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64445" y="11593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4445" y="95936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4445" y="95936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4445" y="7593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64445" y="7593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4445" y="55932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64445" y="55932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719690" y="11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719690" y="11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719690" y="90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719690" y="90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719690" y="7049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11719690" y="7049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719690" y="5049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11719690" y="5049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719690" y="18981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1719690" y="18981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19690" y="1698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11719690" y="1698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719690" y="14980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1719690" y="14980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719690" y="12980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1719690" y="12980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5" name="Image 1" descr="https://kimi-img.moonshot.cn/pub/slides/slides_tmpl/image/25-08-27-20:04:48-d2nf8o18bjvh7rlj0b2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158" y="4114887"/>
            <a:ext cx="2074038" cy="2261184"/>
          </a:xfrm>
          <a:prstGeom prst="rect">
            <a:avLst/>
          </a:prstGeom>
        </p:spPr>
      </p:pic>
      <p:pic>
        <p:nvPicPr>
          <p:cNvPr id="36" name="Image 2" descr="https://kimi-img.moonshot.cn/pub/slides/slides_tmpl/image/25-08-27-20:04:48-d2nf8o18bjvh7rlj0b3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831" y="3745013"/>
            <a:ext cx="2074038" cy="2631057"/>
          </a:xfrm>
          <a:prstGeom prst="rect">
            <a:avLst/>
          </a:prstGeom>
        </p:spPr>
      </p:pic>
      <p:pic>
        <p:nvPicPr>
          <p:cNvPr id="37" name="Image 3" descr="https://kimi-img.moonshot.cn/pub/slides/slides_tmpl/image/25-08-27-20:04:48-d2nf8o18bjvh7rlj0b3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067" y="904984"/>
            <a:ext cx="2074037" cy="309830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01345" y="556260"/>
            <a:ext cx="6316345" cy="2004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1 Milestone Checklist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523992" y="2064864"/>
            <a:ext cx="525234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510247" y="2382203"/>
            <a:ext cx="5266085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the end of Day 1, you should have loaded documents, chunked them, generated Gemini embeddings, created a persistent vector DB, and successfully queried it.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449939" y="3847206"/>
            <a:ext cx="3336840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 and Backup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464446" y="4309133"/>
            <a:ext cx="3284570" cy="765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 your code to GitHub and backup the chroma_db folder to ensure a solid foundation for Day 2.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8279774" y="1587311"/>
            <a:ext cx="383540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Importance of Milestones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8279765" y="1998345"/>
            <a:ext cx="3335655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These milestones form the retrieval backbone of the RAG system, ensuring steady progress towards the final AI Knowledge Assistant.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8270413" y="4022268"/>
            <a:ext cx="3835409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8279765" y="4460240"/>
            <a:ext cx="3335655" cy="102750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Prepare for Day 2 by reviewing the agenda and ensuring your environment is ready for RAG chaining and tool integration.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gradFill flip="none" rotWithShape="0">
          <a:gsLst>
            <a:gs pos="0">
              <a:srgbClr val="A9BAF4"/>
            </a:gs>
            <a:gs pos="32000">
              <a:srgbClr val="D8E1FD"/>
            </a:gs>
            <a:gs pos="42000">
              <a:srgbClr val="C7D5FC"/>
            </a:gs>
            <a:gs pos="63000">
              <a:srgbClr val="D8E1FD"/>
            </a:gs>
            <a:gs pos="98000">
              <a:srgbClr val="FFF2C6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427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04427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04452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04452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04477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04477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4502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04502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064" y="117847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01064" y="117847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064" y="9784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1064" y="9784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064" y="7784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1064" y="7784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064" y="5783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1064" y="5783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645" y="645795"/>
            <a:ext cx="10751820" cy="1206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 Instructions &amp; Tomorrow Peek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37777" y="52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777" y="520615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14176" y="524668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176" y="524668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39054" y="1979886"/>
            <a:ext cx="4282212" cy="2834620"/>
          </a:xfrm>
          <a:prstGeom prst="rect">
            <a:avLst/>
          </a:prstGeom>
          <a:solidFill>
            <a:srgbClr val="A4CCEE"/>
          </a:solidFill>
          <a:ln/>
        </p:spPr>
      </p:sp>
      <p:sp>
        <p:nvSpPr>
          <p:cNvPr id="24" name="Text 22"/>
          <p:cNvSpPr/>
          <p:nvPr/>
        </p:nvSpPr>
        <p:spPr>
          <a:xfrm>
            <a:off x="7439054" y="1979886"/>
            <a:ext cx="4282212" cy="28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5" name="Image 0" descr="https://kimi-img.moonshot.cn/pub/slides/slides_tmpl/image/25-08-27-20:04:36-d2nf8l18bjvh7rlj0a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54" y="1957590"/>
            <a:ext cx="4282212" cy="2856916"/>
          </a:xfrm>
          <a:prstGeom prst="rect">
            <a:avLst/>
          </a:prstGeom>
        </p:spPr>
      </p:pic>
      <p:pic>
        <p:nvPicPr>
          <p:cNvPr id="26" name="Image 1" descr="https://kimi-img.moonshot.cn/pub/slides/slides_tmpl/image/25-08-27-20:04:36-d2nf8l18bjvh7rlj0ac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0" y="1959287"/>
            <a:ext cx="4225267" cy="2855218"/>
          </a:xfrm>
          <a:prstGeom prst="rect">
            <a:avLst/>
          </a:prstGeom>
        </p:spPr>
      </p:pic>
      <p:pic>
        <p:nvPicPr>
          <p:cNvPr id="27" name="Image 2" descr="https://kimi-img.moonshot.cn/pub/slides/slides_tmpl/image/25-08-27-20:04:36-d2nf8l18bjvh7rlj0ac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652" y="1957589"/>
            <a:ext cx="2238998" cy="285521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96633" y="5138838"/>
            <a:ext cx="9655733" cy="2845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Lab Instructions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532890" y="5600700"/>
            <a:ext cx="9655810" cy="9817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Follow the lab instructions to rerun notebook cells, swap your own PDFs, tweak chunk sizes, and re-measure retrieval relevance. Troubleshoot common errors and prepare for Day 2’s agenda on RAG, tools, agents, and optional vision features.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1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7-d2nf8l98bjvh7rlj0ad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63240" y="2311248"/>
            <a:ext cx="6295390" cy="16561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174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41434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41434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1437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1437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81439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81439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1442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1442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3825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23825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3827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43827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3830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63830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83832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83832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34970" y="3863913"/>
            <a:ext cx="40640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37020" y="3907257"/>
            <a:ext cx="30359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56576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056576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076579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076579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96581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096581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16584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16584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23388" y="574675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523388" y="574675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523388" y="55467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523388" y="55467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523388" y="53467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523388" y="53467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523388" y="5146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523388" y="5146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523388" y="6539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523388" y="6539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523388" y="6339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523388" y="6339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523388" y="6139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523388" y="6139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523388" y="5939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523388" y="5939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11468678" y="3041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11468678" y="3041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11468678" y="2841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11468678" y="2841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11468678" y="2641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11468678" y="2641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11468678" y="2441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11468678" y="2441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4"/>
          <p:cNvSpPr/>
          <p:nvPr/>
        </p:nvSpPr>
        <p:spPr>
          <a:xfrm>
            <a:off x="11468678" y="383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11468678" y="383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56"/>
          <p:cNvSpPr/>
          <p:nvPr/>
        </p:nvSpPr>
        <p:spPr>
          <a:xfrm>
            <a:off x="11468678" y="363495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57"/>
          <p:cNvSpPr/>
          <p:nvPr/>
        </p:nvSpPr>
        <p:spPr>
          <a:xfrm>
            <a:off x="11468678" y="363495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58"/>
          <p:cNvSpPr/>
          <p:nvPr/>
        </p:nvSpPr>
        <p:spPr>
          <a:xfrm>
            <a:off x="11468678" y="343493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59"/>
          <p:cNvSpPr/>
          <p:nvPr/>
        </p:nvSpPr>
        <p:spPr>
          <a:xfrm>
            <a:off x="11468678" y="343493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0"/>
          <p:cNvSpPr/>
          <p:nvPr/>
        </p:nvSpPr>
        <p:spPr>
          <a:xfrm>
            <a:off x="11468678" y="32349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1"/>
          <p:cNvSpPr/>
          <p:nvPr/>
        </p:nvSpPr>
        <p:spPr>
          <a:xfrm>
            <a:off x="11468678" y="32349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Microsoft Office PowerPoint</Application>
  <PresentationFormat>Widescreen</PresentationFormat>
  <Paragraphs>130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RAG with Gemini &amp; LangChain</dc:title>
  <dc:subject>Build RAG with Gemini &amp; LangChain</dc:subject>
  <dc:creator>Kimi</dc:creator>
  <cp:lastModifiedBy>Sean</cp:lastModifiedBy>
  <cp:revision>3</cp:revision>
  <dcterms:created xsi:type="dcterms:W3CDTF">2025-12-06T03:13:19Z</dcterms:created>
  <dcterms:modified xsi:type="dcterms:W3CDTF">2025-12-06T03:27:26Z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{"Label":"Build RAG with Gemini &amp; LangChain","ContentProducer":"001191110108MACG2KBH8F10000","ProduceID":"d4ppsgm0ftlp7es1amng","ReservedCode1":"","ContentPropagator":"001191110108MACG2KBH8F20000","PropagateID":"d4ppsgm0ftlp7es1amng","ReservedCode2":""}</vt:lpwstr>
  </property>
</Properties>
</file>